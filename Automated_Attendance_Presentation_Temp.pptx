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6" r:id="rId16"/>
    <p:sldId id="287" r:id="rId17"/>
    <p:sldId id="288" r:id="rId18"/>
    <p:sldId id="28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4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0C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Segoe UI"/>
              </a:rPr>
              <a:t>AUTOMATED ATTENDANCE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800" b="0" dirty="0">
                <a:solidFill>
                  <a:srgbClr val="06B6D4"/>
                </a:solidFill>
                <a:latin typeface="Segoe UI"/>
              </a:rPr>
              <a:t>A </a:t>
            </a:r>
            <a:r>
              <a:rPr lang="en-IN" sz="1800" b="0" dirty="0">
                <a:solidFill>
                  <a:srgbClr val="06B6D4"/>
                </a:solidFill>
                <a:latin typeface="Segoe UI"/>
              </a:rPr>
              <a:t>Four</a:t>
            </a:r>
            <a:r>
              <a:rPr sz="1800" b="0" dirty="0">
                <a:solidFill>
                  <a:srgbClr val="06B6D4"/>
                </a:solidFill>
                <a:latin typeface="Segoe UI"/>
              </a:rPr>
              <a:t>-Factor Biometric, Geofenced,</a:t>
            </a:r>
            <a:r>
              <a:rPr lang="en-IN" sz="1800" b="0" dirty="0">
                <a:solidFill>
                  <a:srgbClr val="06B6D4"/>
                </a:solidFill>
                <a:latin typeface="Segoe UI"/>
              </a:rPr>
              <a:t> </a:t>
            </a:r>
            <a:r>
              <a:rPr sz="1800" b="0" dirty="0">
                <a:solidFill>
                  <a:srgbClr val="06B6D4"/>
                </a:solidFill>
                <a:latin typeface="Segoe UI"/>
              </a:rPr>
              <a:t>BLE Proximity Verification</a:t>
            </a:r>
            <a:r>
              <a:rPr lang="en-IN" dirty="0">
                <a:solidFill>
                  <a:srgbClr val="06B6D4"/>
                </a:solidFill>
                <a:latin typeface="Segoe UI"/>
              </a:rPr>
              <a:t> and visual dynamic OTP</a:t>
            </a:r>
            <a:endParaRPr sz="1800" b="0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4114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1036289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DEVELOPED FOR: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3657600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00" b="0" dirty="0">
                <a:solidFill>
                  <a:srgbClr val="F8FAFC"/>
                </a:solidFill>
                <a:latin typeface="Segoe UI"/>
              </a:rPr>
              <a:t>Final Year Project</a:t>
            </a:r>
            <a:r>
              <a:rPr lang="en-IN" sz="1200" b="0" dirty="0">
                <a:solidFill>
                  <a:srgbClr val="F8FAFC"/>
                </a:solidFill>
                <a:latin typeface="Segoe UI"/>
              </a:rPr>
              <a:t>.</a:t>
            </a:r>
            <a:endParaRPr sz="1200" b="0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3520" y="4572000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CORE SYSTEM CAPABILITIES: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846320"/>
            <a:ext cx="566928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GPS Geofencing with Native Android Anti-Mock Protection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BLE Scan Matching Room Beacons &amp; Visual Time-Sensitive OTPs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On-device ML Kit Facial Liveness + Server-side Deep Face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The Attendance Dilemma in Higher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The Critical Cost of Manual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253761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50" dirty="0">
                <a:solidFill>
                  <a:srgbClr val="F8FAFC"/>
                </a:solidFill>
                <a:latin typeface="Segoe UI"/>
              </a:rPr>
              <a:t>•  Traditional manual roll calls take 10 to 15 minutes per lecture, wasting valuable instructional hours across semesters.</a:t>
            </a:r>
            <a:endParaRPr lang="en-IN"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50" dirty="0">
                <a:solidFill>
                  <a:srgbClr val="F8FAFC"/>
                </a:solidFill>
                <a:latin typeface="Segoe UI"/>
              </a:rPr>
              <a:t>•  Paper registers are fragile, prone to damage, and offer zero security controls against malicious modifications.</a:t>
            </a:r>
            <a:endParaRPr lang="en-IN"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50" dirty="0">
                <a:solidFill>
                  <a:srgbClr val="F8FAFC"/>
                </a:solidFill>
                <a:latin typeface="Segoe UI"/>
              </a:rPr>
              <a:t>•  Compiling reports manually creates immense administrative overhead, causing transcription errors and data delays.</a:t>
            </a:r>
            <a:endParaRPr lang="en-IN"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50" dirty="0">
                <a:solidFill>
                  <a:srgbClr val="F8FAFC"/>
                </a:solidFill>
                <a:latin typeface="Segoe UI"/>
              </a:rPr>
              <a:t>•  Physical tracking systems lack an audit trail, making it extremely difficult to verify records during inspections.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Segoe UI"/>
              </a:rPr>
              <a:t>Proxy Attendance (Buddy Punching)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Absent students routinely ask classmates to mark them present on sign-in sheets or log responses using shared account links.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Segoe UI"/>
              </a:rPr>
              <a:t>Location &amp; Identity 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48463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Students utilize GPS spoofing apps or display a photograph of an absent peer to simple camera scanners to falsify their presence.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Segoe UI"/>
              </a:rPr>
              <a:t>QR Code Exploitation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20640"/>
            <a:ext cx="48463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Static QR codes displayed on projectors are instantly photographed and shared via messaging groups, allowing remote sign-ins.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EXISTING SYSTEM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Why Current Automated Systems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Common Technical Flaws &amp; Security Exploits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832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Segoe UI"/>
              </a:rPr>
              <a:t>Static QR Scan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3017520" cy="177074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No Proximity Proof: QR images are sent to external student groups instantly.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Absent students scan shared QR images from dorms or off-campus locations.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Zero user validation occurs when the QR scanner acts independently of bios.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Segoe UI"/>
              </a:rPr>
              <a:t>GPS Spoofing Flaws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3017520" cy="177074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Android mock location services allow apps to inject custom latitude/longitude.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GPS drift inside concrete buildings causes false-positives and rejects.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No verification of whether the student is actually inside the room or outside.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17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Segoe UI"/>
              </a:rPr>
              <a:t>Static Biometric Flaws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3017520" cy="177074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Facial scanners without liveness check can be fooled using prints/screens.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Device sharing: one student logs into multiple accounts on their phone.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Heavy server latency when matching raw images without local filtering.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 dirty="0">
                <a:solidFill>
                  <a:srgbClr val="F8FAFC"/>
                </a:solidFill>
                <a:latin typeface="Segoe UI"/>
              </a:rPr>
              <a:t>The </a:t>
            </a:r>
            <a:r>
              <a:rPr lang="en-IN" sz="2600" b="1">
                <a:solidFill>
                  <a:srgbClr val="F8FAFC"/>
                </a:solidFill>
                <a:latin typeface="Segoe UI"/>
              </a:rPr>
              <a:t>Four</a:t>
            </a:r>
            <a:r>
              <a:rPr sz="2600" b="1">
                <a:solidFill>
                  <a:srgbClr val="F8FAFC"/>
                </a:solidFill>
                <a:latin typeface="Segoe UI"/>
              </a:rPr>
              <a:t>-Factor </a:t>
            </a:r>
            <a:r>
              <a:rPr sz="2600" b="1" dirty="0">
                <a:solidFill>
                  <a:srgbClr val="F8FAFC"/>
                </a:solidFill>
                <a:latin typeface="Segoe UI"/>
              </a:rPr>
              <a:t>Verification Shield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3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1945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GPS GEOFENCING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08960"/>
            <a:ext cx="219456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194560" cy="2377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Checks device coordinates against campus boundaries using Android location services, checking and blocking mock providers natively.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5603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68880"/>
            <a:ext cx="21945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BLE ROOM PROXIMITY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3108960"/>
            <a:ext cx="219456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3291840"/>
            <a:ext cx="2194560" cy="2377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Scans BLE advertisements from the classroom beacon. Proves physical presence inside the lecture hall via signal attenuation.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645920"/>
            <a:ext cx="25603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8288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68880"/>
            <a:ext cx="21945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VISUAL DYNAMIC OTP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108960"/>
            <a:ext cx="219456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291840"/>
            <a:ext cx="2194560" cy="2377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A time-sensitive 5-digit hex code generated by the admin. Displayed to students in-class and expires within 10 minutes.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645920"/>
            <a:ext cx="25603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18288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468880"/>
            <a:ext cx="21945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LIVENESS &amp; BIOMETRICS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3108960"/>
            <a:ext cx="219456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3291840"/>
            <a:ext cx="2194560" cy="2377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Google ML Kit prompts randomized head turns to verify liveness. Server performs deep 128D facial vector matching.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Project Overview &amp; Ecosystem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4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Ecosystem Integration &amp; Workflow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48640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Dynamic Classrooms: Faculty initializes secure, temporary attendance sessions that broadcast dynamic identifiers and visual OTPs.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Sensor Fusion Client: Students utilize a custom Kotlin Android app integrating camera, GPS sensors, and Bluetooth hardware to scan environments.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Asynchronous Processing: The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FastAPI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backend acts as a gateway, validating physical proximity, verifying identity vectors, and persisting logs.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Anti-Proxy Validation: Verification is failed if any single credential check, location validation, or facial liveness scan is bypassed.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Integrated Reporting: Automatic CSV logs are generated inside classes, tracking cumulative statistics, absences, and registration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Ecosystem Workflow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1. Faculty Starts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20040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2. Student Scans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11480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3. ML Face &amp; Liveness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02920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4. Save DB &amp; Append 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8844" y="2834640"/>
            <a:ext cx="2743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38844" y="3749039"/>
            <a:ext cx="27432" cy="36576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38844" y="4663440"/>
            <a:ext cx="2743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Built with Modern SaaS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5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STUDENT MOBILE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291977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Kotlin: Primary language for Android Native App Development.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CameraX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Jetpack API: Robust and unified camera preview and image capture framework.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Google ML Kit: Runs on-device face detection and head Euler angles extraction.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BLE Scanning Engine: Bluetooth Low Energy scanner for beacon filtering.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Retrofit &amp;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OkHttp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Secure network request management with dynamic headers.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Segoe UI"/>
              </a:rPr>
              <a:t>API GATEWAY &amp; 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10896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108960" cy="291977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FastAPI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Python framework for high-throughput, async request routing.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Uvicorn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Lightning-fast ASGI web server implementation.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JWT Authentication: Cryptographically signed security tokens for users.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Passlib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&amp;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Password hashing and security context storage.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CSV Logger: File-append log engine representing physical sheets.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STORAGE &amp; ML MATCHING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291977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MongoDB NoSQL: JSON document database storing student and session records.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/ Face Recognition: Computes 128D biometric face vectors on the server.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OpenCV Python: Resizes and normalizes images for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performance.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NumPy Library: Calculates fast vectorized Euclidean distance for matches.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PyMongo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Low-latency driver connecting Python directly to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End-to-End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6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Student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2860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Android App
(Kotlin UI)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2004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ML Kit
(Liveness Step)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1148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Location &amp; BLE
(GPS / BLE Scan)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0292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Retrofit Client
(Network requests)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645920"/>
            <a:ext cx="23774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182880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FastAPI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2860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ASGI Web Server
(Uvicorn)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2004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APIRouter
(Route handling)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1148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Auth Middleware
(JWT active_token)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50292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Controllers
(Business logic)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645920"/>
            <a:ext cx="23774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182880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  <a:latin typeface="Segoe UI"/>
              </a:rPr>
              <a:t>Deep Learning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56032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OpenCV Python
(Image Normalizer)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47472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dlib Engine
(HOG Face Detector)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38912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Face Encoder
(128D vector extraction)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521208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NumPy Evaluator
(Euclidean matching)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1645920"/>
            <a:ext cx="16459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66960" y="182880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Segoe UI"/>
              </a:rPr>
              <a:t>Storage 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2560320"/>
            <a:ext cx="128016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MongoDB
Atlas 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3840480"/>
            <a:ext cx="128016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Static File
Store (JPG)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5029200"/>
            <a:ext cx="128016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CSV Log
Exporters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826764"/>
            <a:ext cx="731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826764"/>
            <a:ext cx="73152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326880" y="3826764"/>
            <a:ext cx="64008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Modular Application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7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ADMIN PORTAL &amp; SYSTEM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86000"/>
            <a:ext cx="484632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Class Creation: Define subject names, branches, and schedules.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Student Registration: Add roll numbers and names to class lists.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Session Controller: Activate BLE codes and dynamic visual OTPs.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Report Engine: View present/absent statistics and export CSVs.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STUDENT DEVICE UTILITIES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286000"/>
            <a:ext cx="484632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423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Ecosystem Select: Log in as a student or connect as admin.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GPS Verification: Pulls active GPS coordinates from Android.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BLE Proximity Scan: Searches nearby BLE beacons for classroom validation.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Visual OTP Verification: Input visual validation codes directly.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COMPUTER VISION BIOMETRIC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484632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ML Kit Analyzer: Local face search, checking yaw and pitch.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Head-Turn Tracker: Evaluates random directions for anti-spoof.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Face Cropper: Local scaling &amp; cropping to minimize upload sizes.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dlib Matcher: Server matches 128D face encodings within 0.5 limit.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AUTHENTICATION &amp; MIDDLEWARE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572000"/>
            <a:ext cx="484632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709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JWT Management: Secure token generation mapping to admin/student.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Single-Device Lock: Server compares requests with DB active_token.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Password Encryption: Bcrypt hashing applied during registration.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CORS &amp; Security Settings: Restricts API routing to trusted clients.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DATA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MongoDB Collection Schemas &amp; Relations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8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ADMINS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Primary Admin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4028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name: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email: String (Unique)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password: Hash (Bcrypt)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REGISTERED_STUDENTS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Onboarded Accounts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24028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name / roll / email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password: Hash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face_encoding: Array[128]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class_id: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active_token: JWT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Authorized Rolls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24028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33172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name / roll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class_id: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class_name: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attendance_status: Str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Class &amp; Schedules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61772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70916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class_name / section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department / semester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created_by: AdminId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students: Array[Objects]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expires_at: DateTime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416052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ATTENDANCE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38912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Attendance Logs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61772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470916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student_id: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name / roll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class_name: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date: String (YYYY-MM-DD)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status: Str ('Present')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416052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ATTENDANCE_SESSIONS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8912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Active Live Sessions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61772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0" y="470916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class_id: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session_code / session_uuid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bluetooth_name: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classroom_beacon: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otp_code: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active: Boolean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Secure Authentication &amp; Single Device Locking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9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06B6D4"/>
                </a:solidFill>
                <a:latin typeface="Segoe UI"/>
              </a:rPr>
              <a:t>Student Onboarding (Face Enrollment)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2545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Pre-Authorization Check: Registration fails if the student's name and roll number are not pre-authorized by an admin in students collection.</a:t>
            </a:r>
            <a:endParaRPr lang="en-IN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Initial Registration: Users input email, roll number, password, and upload a registration photo.</a:t>
            </a:r>
            <a:endParaRPr lang="en-IN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Duplicate Face Check: Server extracts a 128D face vector. Scans database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registered_students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collection for any matching vector (Euclidean distance &lt; 0.5). Blocks duplicate registrations.</a:t>
            </a:r>
            <a:endParaRPr lang="en-IN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&amp; JWT Setup: Password is hashed using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. Profile is stored in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registered_students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collection containing the facial vector.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212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3B82F6"/>
                </a:solidFill>
                <a:latin typeface="Segoe UI"/>
              </a:rPr>
              <a:t>Login &amp; Session Device Locking (active_token)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212080" cy="28505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Credential Check: User logs in with email and password via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comparison.</a:t>
            </a:r>
            <a:endParaRPr lang="en-IN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Unique JWT Generation: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FastAPI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creates a unique JWT token embedding user ID and role ('student').</a:t>
            </a:r>
            <a:endParaRPr lang="en-IN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Session Locking (Database Update): The database updates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registered_students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with the new JWT as the current '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active_token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'.</a:t>
            </a:r>
            <a:endParaRPr lang="en-IN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Authorization Guard (Middleware): Every request carries the token. The auth dependency compares the request token against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active_token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in the DB.</a:t>
            </a:r>
            <a:endParaRPr lang="en-IN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Proxy Defense: If a student shares credentials, a login on a second device updates the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active_token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. The first device is immediately logged 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PROCESS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Faculty Admin Session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0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Steps for starting an attendance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Logs into Admin dashboard via secure bcrypt auth.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1460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88036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CREATE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Defines name, section, year, and semester.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9768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6344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START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Clicks 'Start' for a specific class to trigger session creation.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80759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46519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GENERATE META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19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Server creates dynamic UUID, BLE identifier &amp; 5-digit hex OTP.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86384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60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BROADCAST/SHOW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Beacon starts advertising BLE name. Visual OTP is shown on screen.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4692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1268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AUTO-EXPIRE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The active session expires automatically in 10 minutes.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Student Attendance Marking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Steps to log verification variables and verify attendance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JOIN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Student opens Android app, selects class, and taps Mark Attendance.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1460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88036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GPS 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App pulls location. Coordinates must be within 200m of campus.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9768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6344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ENTER OTP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Manually enters the 5-digit hex OTP shown by the professor.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80759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46519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BLE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19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App scans BLE advertisements. Finds matching room beacon.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86384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60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LIVENESS SCAN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Front camera opens. Prompts head turns to verify liveness.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4692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1268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MARK PRESENT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Server processes face match, registers present status, logs in CSV.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Proximity Proof via BLE Beacons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Bluetooth Low Energy (BLE) Verification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Scan Window: Upon starting verification, the student app activates background BLE scanning for exactly 4 seconds.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Name Filter: The app filters all nearby advertisements, checking for names matching the classroom beacon string (e.g. 'CLASS_CSE_A').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Signal Strength (RSSI) Check: Device RSSI values are collected. High attenuation indicates long distance from the beacon.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Proximity Proof: If the expected classroom beacon is detected in the scan map, it confirms the user is inside the physical room.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Fail Handling: If the beacon is missing or RSSI drops below the room threshold, the scan fails. Blocks logins from adjacent corridors or hallways.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4480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BLE Verification Proximity Proof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377440"/>
            <a:ext cx="192024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Teacher Phone / Beacon
CLASS_CSE_A Adv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91840"/>
            <a:ext cx="192024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Student BLE Scanner
4-Second Scan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206240"/>
            <a:ext cx="192024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Name Filter &amp;
RSSI Distance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120640"/>
            <a:ext cx="192024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Accept: Inside Room
Reject: Mismatch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3124" y="2926080"/>
            <a:ext cx="2743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93124" y="3840480"/>
            <a:ext cx="2743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93124" y="4754880"/>
            <a:ext cx="27432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Biometric Face Recognition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Server-Side Facial Embedding Extraction &amp; Distance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2289771"/>
            <a:ext cx="530352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Image Upload: The client sends a cropped front face JPEG via a multipart form to the '/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api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/attendance/mark' route.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Downscaling Preprocessing: The server resizes the image by 0.5x using OpenCV to speed up localization pipelines.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HOG Face Locator: OpenCV and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utilize the Histogram of Oriented Gradients (HOG) algorithm to locate the face bounding box.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128-Dimensional Vector: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Dlib's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deep learning face recognition model computes a 128D floating-point vector mapping unique facial nodes.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Euclidean Distance Check: Calculates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np.linalg.norm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(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stored_vector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-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upload_vector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). Values &lt; 0.5 indicate a match.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480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Biometric Face Comparison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286000"/>
            <a:ext cx="164592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Uploaded image
(Multipart JPEG)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286000"/>
            <a:ext cx="164592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Face Bounding Box
(OpenCV / HOG)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291840"/>
            <a:ext cx="182880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128D Face Embedding
(dlib extraction)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297680"/>
            <a:ext cx="182880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Euclidean Evaluator
np.linalg.norm()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530352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Distance &lt; 0.5 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638044"/>
            <a:ext cx="731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38844" y="3017520"/>
            <a:ext cx="27432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38844" y="4023360"/>
            <a:ext cx="27432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38844" y="5029200"/>
            <a:ext cx="27432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7F0F-6E8A-B775-CC56-D889F51C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0EE2D0-BCBE-6F38-46EB-600BDEDFE401}"/>
              </a:ext>
            </a:extLst>
          </p:cNvPr>
          <p:cNvSpPr/>
          <p:nvPr/>
        </p:nvSpPr>
        <p:spPr>
          <a:xfrm>
            <a:off x="0" y="9427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87F4C-D131-A32F-90E8-BEC127A6116D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8128D-4579-9ED1-6492-73A2EC48C8AB}"/>
              </a:ext>
            </a:extLst>
          </p:cNvPr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600" b="1" dirty="0">
                <a:solidFill>
                  <a:srgbClr val="F8FAFC"/>
                </a:solidFill>
                <a:latin typeface="Segoe UI"/>
              </a:rPr>
              <a:t>Face Recognition</a:t>
            </a:r>
            <a:endParaRPr sz="2600" b="1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0DB16D-76F7-64CE-7AAB-E43F09D0E815}"/>
              </a:ext>
            </a:extLst>
          </p:cNvPr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CECE3-2351-12CE-BA6E-56DD9F8D31F4}"/>
              </a:ext>
            </a:extLst>
          </p:cNvPr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EB410-D3E7-EA85-7176-FC3ECDE4115C}"/>
              </a:ext>
            </a:extLst>
          </p:cNvPr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US" sz="1000" b="1" dirty="0">
                <a:solidFill>
                  <a:srgbClr val="06B6D4"/>
                </a:solidFill>
                <a:latin typeface="Segoe UI"/>
              </a:rPr>
              <a:t>4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0261661-F269-2ABB-43ED-031959045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95" y="2020823"/>
            <a:ext cx="5405252" cy="29483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16AD864-63B2-9AD2-188F-A8D337C92A5E}"/>
              </a:ext>
            </a:extLst>
          </p:cNvPr>
          <p:cNvSpPr txBox="1"/>
          <p:nvPr/>
        </p:nvSpPr>
        <p:spPr>
          <a:xfrm>
            <a:off x="6511325" y="1405473"/>
            <a:ext cx="5405252" cy="456124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b="1" dirty="0">
                <a:solidFill>
                  <a:srgbClr val="00B0F0"/>
                </a:solidFill>
              </a:rPr>
              <a:t>Image Capture</a:t>
            </a:r>
            <a:r>
              <a:rPr lang="en-IN" sz="1400" dirty="0">
                <a:solidFill>
                  <a:srgbClr val="00B0F0"/>
                </a:solidFill>
              </a:rPr>
              <a:t> </a:t>
            </a:r>
          </a:p>
          <a:p>
            <a:pPr marL="442913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 camera captures the student's face. </a:t>
            </a:r>
          </a:p>
          <a:p>
            <a:pPr marL="228600" indent="-228600">
              <a:buFont typeface="+mj-lt"/>
              <a:buAutoNum type="arabicPeriod"/>
            </a:pPr>
            <a:endParaRPr lang="en-IN" sz="14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b="1" dirty="0">
                <a:solidFill>
                  <a:srgbClr val="00B0F0"/>
                </a:solidFill>
              </a:rPr>
              <a:t>HOG Feature Extraction</a:t>
            </a:r>
            <a:r>
              <a:rPr lang="en-IN" sz="1400" dirty="0">
                <a:solidFill>
                  <a:srgbClr val="00B0F0"/>
                </a:solidFill>
              </a:rPr>
              <a:t>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Histogram of Oriented Gradients (HOG) </a:t>
            </a:r>
            <a:r>
              <a:rPr lang="en-IN" sz="1400" dirty="0" err="1">
                <a:solidFill>
                  <a:schemeClr val="bg1"/>
                </a:solidFill>
              </a:rPr>
              <a:t>analyzes</a:t>
            </a:r>
            <a:r>
              <a:rPr lang="en-IN" sz="1400" dirty="0">
                <a:solidFill>
                  <a:schemeClr val="bg1"/>
                </a:solidFill>
              </a:rPr>
              <a:t> edge directions and facial structures.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Converts the image into numerical gradient features. </a:t>
            </a:r>
          </a:p>
          <a:p>
            <a:pPr marL="263525"/>
            <a:endParaRPr lang="en-IN" sz="1400" dirty="0">
              <a:solidFill>
                <a:schemeClr val="bg1"/>
              </a:solidFill>
            </a:endParaRPr>
          </a:p>
          <a:p>
            <a:pPr marL="228600" indent="-228600">
              <a:buAutoNum type="arabicPeriod" startAt="3"/>
            </a:pPr>
            <a:r>
              <a:rPr lang="en-IN" sz="1400" b="1" dirty="0">
                <a:solidFill>
                  <a:srgbClr val="00B0F0"/>
                </a:solidFill>
              </a:rPr>
              <a:t>SVM Classification</a:t>
            </a:r>
            <a:r>
              <a:rPr lang="en-IN" sz="1400" dirty="0">
                <a:solidFill>
                  <a:srgbClr val="00B0F0"/>
                </a:solidFill>
              </a:rPr>
              <a:t>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 Support Vector Machine (SVM) classifier examines the extracted features.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Determines whether a region contains a face or not. </a:t>
            </a:r>
          </a:p>
          <a:p>
            <a:pPr marL="263525"/>
            <a:endParaRPr lang="en-IN" sz="1400" dirty="0">
              <a:solidFill>
                <a:schemeClr val="bg1"/>
              </a:solidFill>
            </a:endParaRPr>
          </a:p>
          <a:p>
            <a:pPr marL="228600" indent="-228600">
              <a:buAutoNum type="arabicPeriod" startAt="4"/>
            </a:pPr>
            <a:r>
              <a:rPr lang="en-IN" sz="1400" b="1" dirty="0">
                <a:solidFill>
                  <a:srgbClr val="00B0F0"/>
                </a:solidFill>
              </a:rPr>
              <a:t>Face Localization</a:t>
            </a:r>
            <a:r>
              <a:rPr lang="en-IN" sz="1400" dirty="0">
                <a:solidFill>
                  <a:srgbClr val="00B0F0"/>
                </a:solidFill>
              </a:rPr>
              <a:t>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 bounding box is drawn around the detected face.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 detected region is passed to the next stage for landmark detection.</a:t>
            </a:r>
          </a:p>
        </p:txBody>
      </p:sp>
    </p:spTree>
    <p:extLst>
      <p:ext uri="{BB962C8B-B14F-4D97-AF65-F5344CB8AC3E}">
        <p14:creationId xmlns:p14="http://schemas.microsoft.com/office/powerpoint/2010/main" val="3631198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23D0-4B2E-27B7-CB70-0B47AE0F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D7557B-1553-6873-DE2B-15C4A27A96FC}"/>
              </a:ext>
            </a:extLst>
          </p:cNvPr>
          <p:cNvSpPr/>
          <p:nvPr/>
        </p:nvSpPr>
        <p:spPr>
          <a:xfrm>
            <a:off x="305" y="-18288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355C6-717C-6E80-0245-6350936DF233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B2040-939E-F965-7C63-F2DAB6AA7011}"/>
              </a:ext>
            </a:extLst>
          </p:cNvPr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600" b="1" dirty="0">
                <a:solidFill>
                  <a:srgbClr val="F8FAFC"/>
                </a:solidFill>
                <a:latin typeface="Segoe UI"/>
              </a:rPr>
              <a:t>Face Recognition</a:t>
            </a:r>
            <a:endParaRPr sz="2600" b="1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BF7EC-4225-386B-F1D6-434B7D14FDA0}"/>
              </a:ext>
            </a:extLst>
          </p:cNvPr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D74AC-B1AB-7AEF-E321-0D5D331AE334}"/>
              </a:ext>
            </a:extLst>
          </p:cNvPr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594ED-3DC7-DD9E-066C-AF44F067C003}"/>
              </a:ext>
            </a:extLst>
          </p:cNvPr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US" sz="1000" b="1" dirty="0">
                <a:solidFill>
                  <a:srgbClr val="06B6D4"/>
                </a:solidFill>
                <a:latin typeface="Segoe UI"/>
              </a:rPr>
              <a:t>5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CEECE8-F282-C439-5AEB-C25BE38EB78C}"/>
              </a:ext>
            </a:extLst>
          </p:cNvPr>
          <p:cNvSpPr txBox="1"/>
          <p:nvPr/>
        </p:nvSpPr>
        <p:spPr>
          <a:xfrm>
            <a:off x="6404710" y="1394661"/>
            <a:ext cx="5463339" cy="359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b="1" dirty="0">
                <a:solidFill>
                  <a:srgbClr val="00B0F0"/>
                </a:solidFill>
              </a:rPr>
              <a:t>Facial Landmark Detection</a:t>
            </a:r>
          </a:p>
          <a:p>
            <a:pPr marL="228600" indent="-228600">
              <a:buFont typeface="+mj-lt"/>
              <a:buAutoNum type="arabicPeriod"/>
            </a:pPr>
            <a:endParaRPr lang="en-IN" sz="1400" dirty="0">
              <a:solidFill>
                <a:schemeClr val="bg1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r>
              <a:rPr lang="en-IN" sz="1400" b="1" dirty="0">
                <a:solidFill>
                  <a:srgbClr val="00B0F0"/>
                </a:solidFill>
              </a:rPr>
              <a:t>2. Landmark Estimation</a:t>
            </a:r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Each landmark is assigned precise coordinates on the face.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 The model predicts the geometric structure of the face.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 These landmarks help understand facial orientation and pose.</a:t>
            </a:r>
          </a:p>
          <a:p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03F728-4100-F989-C31B-0D06AAAB4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06" y="2029845"/>
            <a:ext cx="5196754" cy="28345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BC4EB9B-A78B-214F-A160-2C73EEADFA1E}"/>
              </a:ext>
            </a:extLst>
          </p:cNvPr>
          <p:cNvSpPr txBox="1"/>
          <p:nvPr/>
        </p:nvSpPr>
        <p:spPr>
          <a:xfrm>
            <a:off x="6583986" y="1693410"/>
            <a:ext cx="4948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After detecting a face, </a:t>
            </a:r>
            <a:r>
              <a:rPr lang="en-IN" sz="1400" dirty="0" err="1">
                <a:solidFill>
                  <a:schemeClr val="bg1"/>
                </a:solidFill>
              </a:rPr>
              <a:t>dlib</a:t>
            </a:r>
            <a:r>
              <a:rPr lang="en-IN" sz="1400" dirty="0">
                <a:solidFill>
                  <a:schemeClr val="bg1"/>
                </a:solidFill>
              </a:rPr>
              <a:t> identifies </a:t>
            </a:r>
            <a:r>
              <a:rPr lang="en-IN" sz="1400" b="1" dirty="0">
                <a:solidFill>
                  <a:schemeClr val="bg1"/>
                </a:solidFill>
              </a:rPr>
              <a:t>68 facial landmark points</a:t>
            </a:r>
            <a:r>
              <a:rPr lang="en-IN" sz="1400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343F12-0092-4441-077F-927B68803DA0}"/>
              </a:ext>
            </a:extLst>
          </p:cNvPr>
          <p:cNvSpPr txBox="1"/>
          <p:nvPr/>
        </p:nvSpPr>
        <p:spPr>
          <a:xfrm>
            <a:off x="6583986" y="2231052"/>
            <a:ext cx="4743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These points represent key facial regions: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1797F4-1F60-7999-1C5B-DC1092974D05}"/>
              </a:ext>
            </a:extLst>
          </p:cNvPr>
          <p:cNvSpPr txBox="1"/>
          <p:nvPr/>
        </p:nvSpPr>
        <p:spPr>
          <a:xfrm>
            <a:off x="7490446" y="2527163"/>
            <a:ext cx="1106137" cy="1066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Eyes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Eyebrows 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Nose 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Mouth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Jawline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923F53-8CE9-8C4E-4D57-8BCBC28BBAE6}"/>
              </a:ext>
            </a:extLst>
          </p:cNvPr>
          <p:cNvSpPr txBox="1"/>
          <p:nvPr/>
        </p:nvSpPr>
        <p:spPr>
          <a:xfrm>
            <a:off x="7546298" y="4928015"/>
            <a:ext cx="229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Jawline                    : 17 Points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PointsEyebrows</a:t>
            </a:r>
            <a:r>
              <a:rPr lang="en-US" sz="1200" dirty="0">
                <a:solidFill>
                  <a:schemeClr val="bg1"/>
                </a:solidFill>
              </a:rPr>
              <a:t>     : 10 Points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PointsEyes</a:t>
            </a:r>
            <a:r>
              <a:rPr lang="en-US" sz="1200" dirty="0">
                <a:solidFill>
                  <a:schemeClr val="bg1"/>
                </a:solidFill>
              </a:rPr>
              <a:t>              : 12 Points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PointsNose</a:t>
            </a:r>
            <a:r>
              <a:rPr lang="en-US" sz="1200" dirty="0">
                <a:solidFill>
                  <a:schemeClr val="bg1"/>
                </a:solidFill>
              </a:rPr>
              <a:t>             :  9 Points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PointsMouth</a:t>
            </a:r>
            <a:r>
              <a:rPr lang="en-US" sz="1200" dirty="0">
                <a:solidFill>
                  <a:schemeClr val="bg1"/>
                </a:solidFill>
              </a:rPr>
              <a:t>          : 20 Points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71472AB-DAC4-7ABA-4809-F13C9A343137}"/>
              </a:ext>
            </a:extLst>
          </p:cNvPr>
          <p:cNvSpPr/>
          <p:nvPr/>
        </p:nvSpPr>
        <p:spPr>
          <a:xfrm>
            <a:off x="7347004" y="4844362"/>
            <a:ext cx="2438365" cy="1182970"/>
          </a:xfrm>
          <a:prstGeom prst="round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36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06168-E1E3-D1A4-5229-B6C2DD98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9B3713-AA6F-299F-B733-511F9691F5D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A281D-9A8E-FF2E-BE0A-B90A94700869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050E1-FC32-849F-2ADF-7044F8BC4DFC}"/>
              </a:ext>
            </a:extLst>
          </p:cNvPr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600" b="1" dirty="0">
                <a:solidFill>
                  <a:srgbClr val="F8FAFC"/>
                </a:solidFill>
                <a:latin typeface="Segoe UI"/>
              </a:rPr>
              <a:t>Face Recognition</a:t>
            </a:r>
            <a:endParaRPr sz="2600" b="1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287AD-D718-6C87-C068-B004CB6B5CA4}"/>
              </a:ext>
            </a:extLst>
          </p:cNvPr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51918-2715-D3D6-1686-F1FE7337F183}"/>
              </a:ext>
            </a:extLst>
          </p:cNvPr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EEBD7-BA8D-BBEB-4962-D524725795A8}"/>
              </a:ext>
            </a:extLst>
          </p:cNvPr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US" sz="1000" b="1" dirty="0">
                <a:solidFill>
                  <a:srgbClr val="06B6D4"/>
                </a:solidFill>
                <a:latin typeface="Segoe UI"/>
              </a:rPr>
              <a:t>6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B7A9F7-26FA-34B3-9506-3575A39F6C8E}"/>
              </a:ext>
            </a:extLst>
          </p:cNvPr>
          <p:cNvSpPr txBox="1"/>
          <p:nvPr/>
        </p:nvSpPr>
        <p:spPr>
          <a:xfrm>
            <a:off x="6441221" y="1367125"/>
            <a:ext cx="5405252" cy="45458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Aligned Face Input </a:t>
            </a:r>
          </a:p>
          <a:p>
            <a:endParaRPr lang="en-IN" sz="1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42913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Uses the aligned face from the previous stage.</a:t>
            </a:r>
          </a:p>
          <a:p>
            <a:pPr marL="442913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 Ensures consistent facial positioning.</a:t>
            </a:r>
          </a:p>
          <a:p>
            <a:pPr>
              <a:lnSpc>
                <a:spcPct val="250000"/>
              </a:lnSpc>
            </a:pPr>
            <a:r>
              <a:rPr lang="en-IN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2.   Deep Neural Network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chemeClr val="bg1"/>
                </a:solidFill>
              </a:rPr>
              <a:t>dlib's</a:t>
            </a:r>
            <a:r>
              <a:rPr lang="en-IN" sz="1200" dirty="0">
                <a:solidFill>
                  <a:schemeClr val="bg1"/>
                </a:solidFill>
              </a:rPr>
              <a:t> modified </a:t>
            </a:r>
            <a:r>
              <a:rPr lang="en-IN" sz="1200" dirty="0" err="1">
                <a:solidFill>
                  <a:schemeClr val="bg1"/>
                </a:solidFill>
              </a:rPr>
              <a:t>ResNet</a:t>
            </a:r>
            <a:r>
              <a:rPr lang="en-IN" sz="1200" dirty="0">
                <a:solidFill>
                  <a:schemeClr val="bg1"/>
                </a:solidFill>
              </a:rPr>
              <a:t> extracts facial features. 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Learns unique characteristics of each face.</a:t>
            </a:r>
          </a:p>
          <a:p>
            <a:pPr>
              <a:lnSpc>
                <a:spcPct val="200000"/>
              </a:lnSpc>
            </a:pP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IN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  Face Encoding 	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Converts the face into a </a:t>
            </a:r>
            <a:r>
              <a:rPr lang="en-IN" sz="1200" b="1" dirty="0">
                <a:solidFill>
                  <a:schemeClr val="bg1"/>
                </a:solidFill>
              </a:rPr>
              <a:t>128-D vector</a:t>
            </a:r>
            <a:r>
              <a:rPr lang="en-IN" sz="1200" dirty="0">
                <a:solidFill>
                  <a:schemeClr val="bg1"/>
                </a:solidFill>
              </a:rPr>
              <a:t>.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 Acts as a mathematical face signature</a:t>
            </a:r>
            <a:r>
              <a:rPr lang="en-IN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250000"/>
              </a:lnSpc>
              <a:buAutoNum type="arabicPeriod" startAt="5"/>
            </a:pPr>
            <a:r>
              <a:rPr lang="en-IN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Output </a:t>
            </a:r>
          </a:p>
          <a:p>
            <a:pPr marL="263525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	         Aligned Face     </a:t>
            </a:r>
          </a:p>
          <a:p>
            <a:pPr marL="263525"/>
            <a:r>
              <a:rPr lang="en-IN" sz="1400" dirty="0">
                <a:solidFill>
                  <a:schemeClr val="bg1"/>
                </a:solidFill>
              </a:rPr>
              <a:t>     	      ↓</a:t>
            </a:r>
          </a:p>
          <a:p>
            <a:pPr marL="263525"/>
            <a:r>
              <a:rPr lang="en-IN" sz="1400" dirty="0">
                <a:solidFill>
                  <a:schemeClr val="bg1"/>
                </a:solidFill>
              </a:rPr>
              <a:t>	          </a:t>
            </a:r>
            <a:r>
              <a:rPr lang="en-IN" sz="1400" dirty="0" err="1">
                <a:solidFill>
                  <a:schemeClr val="bg1"/>
                </a:solidFill>
              </a:rPr>
              <a:t>ResNet</a:t>
            </a:r>
            <a:r>
              <a:rPr lang="en-IN" sz="1400" dirty="0">
                <a:solidFill>
                  <a:schemeClr val="bg1"/>
                </a:solidFill>
              </a:rPr>
              <a:t> Model </a:t>
            </a:r>
          </a:p>
          <a:p>
            <a:pPr marL="263525"/>
            <a:r>
              <a:rPr lang="en-IN" sz="1400" dirty="0">
                <a:solidFill>
                  <a:schemeClr val="bg1"/>
                </a:solidFill>
              </a:rPr>
              <a:t>  		      ↓</a:t>
            </a:r>
          </a:p>
          <a:p>
            <a:pPr marL="263525"/>
            <a:r>
              <a:rPr lang="en-IN" sz="1400" dirty="0">
                <a:solidFill>
                  <a:schemeClr val="bg1"/>
                </a:solidFill>
              </a:rPr>
              <a:t>	        128D Encoding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45C95B-52B1-026C-8B51-238177D24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80" y="2160805"/>
            <a:ext cx="5226220" cy="28506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187114-CDE0-0C9E-FCCF-0C16579A0D5A}"/>
              </a:ext>
            </a:extLst>
          </p:cNvPr>
          <p:cNvSpPr/>
          <p:nvPr/>
        </p:nvSpPr>
        <p:spPr>
          <a:xfrm>
            <a:off x="7048789" y="4688339"/>
            <a:ext cx="1527142" cy="1316086"/>
          </a:xfrm>
          <a:prstGeom prst="round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93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00AA-4C78-1717-45A6-23ADC12B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BDEE11-9299-099F-D8B9-E81DC0BECFB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FEA14-163E-1840-A508-FBF63BF3E2B6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AE49F-33C5-C8D8-F737-31F4A82ECB94}"/>
              </a:ext>
            </a:extLst>
          </p:cNvPr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600" b="1" dirty="0">
                <a:solidFill>
                  <a:srgbClr val="F8FAFC"/>
                </a:solidFill>
                <a:latin typeface="Segoe UI"/>
              </a:rPr>
              <a:t>Face Recognition</a:t>
            </a:r>
            <a:endParaRPr sz="2600" b="1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58C92-C23A-C210-D217-12F1CD1D3A8E}"/>
              </a:ext>
            </a:extLst>
          </p:cNvPr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654F40-7A23-621C-2E32-67DDD87E570E}"/>
              </a:ext>
            </a:extLst>
          </p:cNvPr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16E05-6154-FD54-588F-687C65DDDB83}"/>
              </a:ext>
            </a:extLst>
          </p:cNvPr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US" sz="1000" b="1" dirty="0">
                <a:solidFill>
                  <a:srgbClr val="06B6D4"/>
                </a:solidFill>
                <a:latin typeface="Segoe UI"/>
              </a:rPr>
              <a:t>7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EA56DF-176D-9232-751B-8D0907843301}"/>
              </a:ext>
            </a:extLst>
          </p:cNvPr>
          <p:cNvSpPr txBox="1"/>
          <p:nvPr/>
        </p:nvSpPr>
        <p:spPr>
          <a:xfrm>
            <a:off x="6511325" y="1601420"/>
            <a:ext cx="5405252" cy="42046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Face Encoding Input</a:t>
            </a:r>
          </a:p>
          <a:p>
            <a:pPr marL="442913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Uses the generated 128D face encoding.</a:t>
            </a:r>
          </a:p>
          <a:p>
            <a:pPr marL="442913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 Acts as a unique facial signature.</a:t>
            </a:r>
          </a:p>
          <a:p>
            <a:pPr>
              <a:lnSpc>
                <a:spcPct val="200000"/>
              </a:lnSpc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2.  Database Comparison</a:t>
            </a:r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Compares the query encoding with stored encodings.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Calculates similarity using Euclidean Distance.</a:t>
            </a:r>
          </a:p>
          <a:p>
            <a:pPr marL="228600" indent="-228600">
              <a:lnSpc>
                <a:spcPct val="200000"/>
              </a:lnSpc>
              <a:buAutoNum type="arabicPeriod" startAt="3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Matching Process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Lower distance indicates higher similarity.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 closest matching face is selected.</a:t>
            </a:r>
          </a:p>
          <a:p>
            <a:pPr marL="84138" indent="-84138">
              <a:lnSpc>
                <a:spcPct val="200000"/>
              </a:lnSpc>
            </a:pPr>
            <a:r>
              <a:rPr lang="en-IN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4. </a:t>
            </a: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Classification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 bounding box is drawn around the detected face. 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 detected region is passed to the next stage for landmark detection.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83E9B9-AD39-D380-AAC9-EAEEF424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13" y="1954840"/>
            <a:ext cx="5405252" cy="29483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71856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ECOSYSTEM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Multi-Factor Verification 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8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663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Segoe UI"/>
              </a:rPr>
              <a:t>Verification Funnel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286000"/>
            <a:ext cx="4297680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GPS Geofencing Check (&lt;200 meters of college coords)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926080"/>
            <a:ext cx="3749039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Active Session Check &amp; Classroom Beacon 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3566160"/>
            <a:ext cx="3200400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Visual dynamic OTP validation (10 min expiry)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4206240"/>
            <a:ext cx="2651760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Android client head-turn Liveness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846320"/>
            <a:ext cx="2103120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Server Face vector matching (&lt;0.5)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486400"/>
            <a:ext cx="1554480" cy="36576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Attendance Marked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Why the funnel structure is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03120"/>
            <a:ext cx="5212080" cy="24529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Efficient Cascade: Sensor validations are run hierarchically to filter out non-compliant requests before running heavy computer vision models.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Resource Preservation: Server-side deep face recognition is only executed if the client has already passed GPS, BLE, OTP, and liveness steps.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Cryptographic Integrity: All factors must compile correctly. Failure at any single point terminates the transaction, preventing false logs.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Real-time Updates: When a student passes the funnel, their database state is changed to 'Present' and written to the class CSV.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Multi-Layered Security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19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DATA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22837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Password Hash: User passwords are encrypted with dynamic salt cycles.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JWT Tokens: Client requests contain cryptographically signed tokens.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CORS Protocols: Backend restricts API cross-origin routing.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Secure Storage: Face encodings are stored as numerical arrays, preventing image theft.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Segoe UI"/>
              </a:rPr>
              <a:t>CLIENT SENSOR INTEGRITY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10896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108960" cy="22837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Anti-Mocking: Native Android code flags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location.isFromMockProvider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BLE Proximity: Validates presence using signal power limits (RSSI).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Visual OTP: Uses in-class displays to block remote code submissions.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No Local Cache: Verification photos are deleted from memory after upload.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BIOMETRIC PROTECTION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22837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Face Duplicate Filter: Blocks multiple profiles registering with same face.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Euler Yaw Checks: Enforces randomized left/right head movements.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Distance Threshold: Evaluates vector margins at a strict 0.5 limit.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Aspect Ratio Normalizer: Dynamic crop window limits spoofing borders.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ANTI-FRAUD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Ecosystem Defenses Against Proxy Attendance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20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Defeating Attendance Manipulation Hacks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263764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GPS Mocking Bypass: Defeated! Using Android location API, requests containing mock coordinates are flagged and rejected immediately.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QR Code Sharing: Defeated! QR scans are replaced by classroom BLE scans and visual OTPs, preventing remote links.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Photo Spoofing: Defeated! On-device face detection requires active yaw turns (turning left/right) to prove liveness.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Account Credentials Sharing: Defeated! During user login, the database records the unique active JWT token. Logins on new devices overwrite this token, invalidating old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480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Ecosystem Defeat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86000"/>
            <a:ext cx="448056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233172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Segoe UI"/>
              </a:rPr>
              <a:t>Attack 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3172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Segoe UI"/>
              </a:rPr>
              <a:t>Proposed 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33172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  <a:latin typeface="Segoe UI"/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74320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278892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GPS spoof / mock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8892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Native Android flag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88036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338328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342900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Sharing QR screen scans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42900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BLE room scan + visual OTP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52044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02336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406908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Printed peer photos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06908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Interactive liveness turns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16052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66344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470916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Sharing credentials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70916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Single active JWT session 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80060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530352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534924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Multiple accounts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34924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Registration duplicate face block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544068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DATA ETHICS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Privacy, Consent, and Data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21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CONSENT &amp; 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198618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Explicit Opt-In: Students must explicitly opt-in to face verification during account onboarding.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Zero Image Persistence: Raw verification photos are processed in memory and immediately discarded.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Alternative Verification: Manual override or OTP verification option is provided for users opting 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Segoe UI"/>
              </a:rPr>
              <a:t>DATA ENCRYPTION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10896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108960" cy="198618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Numerical Vectors: Stores only 128D mathematical vectors; raw images are never kept on the server.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Encrypted Identifiers: Relational database links vectors to hashed profiles, securing student identities.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Secure Transmissions: All client-server request payloads are encrypted via HTTPS protocols.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RETENTION &amp;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198618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Retention Policy: Daily attendance logs are archived and purged from active DBs semester-wise.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Self-Service Purge: Students can delete their biometric profiles, instantly removing vectors from NoSQL DB.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Access Auditing: Administrative report access is logged to prevent internal data exposure.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BACKEND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FastAPI REST API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22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06B6D4"/>
                </a:solidFill>
                <a:latin typeface="Segoe UI"/>
              </a:rPr>
              <a:t>AUTHENTICATION ROUTER (/api/auth)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9456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48463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/login: Authenticates student; returns JWT; updates active_token.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/register: Saves account details, verifies rolls, saves face vector.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JWT Verification Middleware: Intercepts requests to validate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06B6D4"/>
                </a:solidFill>
                <a:latin typeface="Segoe UI"/>
              </a:rPr>
              <a:t>ATTENDANCE CONTROLLER (/api/attendance)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19456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48463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/mark: Multi-factor verification gateway (GPS, BLE, OTP, face upload).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/unmark: Allows admins to reset attendance status to Absent.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/status: Returns daily presence status (Present/Absent).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/history: Returns student's last 7 attendance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06B6D4"/>
                </a:solidFill>
                <a:latin typeface="Segoe UI"/>
              </a:rPr>
              <a:t>SESSION MANAGEMENT (/api/session)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48056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48463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/start/{class_id}: Generates dynamic session identifiers and OTP codes.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/stop/{class_id}: Deactivates attendance window, disabling code inputs.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/active/{class_id}: Client pulls expected beacon and OTP code variables.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069080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06B6D4"/>
                </a:solidFill>
                <a:latin typeface="Segoe UI"/>
              </a:rPr>
              <a:t>CLASS &amp; STUDENT GROUP (/api/class)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48056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4572000"/>
            <a:ext cx="48463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/create: Initializes class templates mapping to departments.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/add-students: Uploads roll lists; builds student collections.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/all: Returns active classes mapped to the calling Admin's ID.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/students/{class_id}: Returns detailed classroom lists and attendance stats.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SYSTEM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High-Performance System Optimizations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VECTORIZED FACE 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286000"/>
            <a:ext cx="475488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475488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Face recognition utilizes NumPy-based Euclidean distance comparisons. Vector matching is run in under 15ms, minimizing CPU bottlenecks.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IMAGE DOWNSCALING &amp; PREPROCESSING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4754880" cy="91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475488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Android crops photos to face oval boundaries before uploading. Server downscales images by 0.5x using OpenCV to speed up face localization.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DATABASE INDEXES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572000"/>
            <a:ext cx="475488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709160"/>
            <a:ext cx="475488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Indexes are created on roll and email collections in MongoDB, ensuring query times remain under 5ms even during concurrent student access.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ASYNCHRONOUS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572000"/>
            <a:ext cx="4754880" cy="91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709160"/>
            <a:ext cx="475488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FastAPI writes student records to class CSV spreadsheets in the background, preventing writing operations from blocking API responses.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Infrastructure &amp; System Pre-requisites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4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Server &amp; Backend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24529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OS Environment: Ubuntu Server 22.04 LTS recommended, or any Docker-compatible virtual private server (VPS).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Python ASGI Backend: Python 3.10+ installation with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Uvicorn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ASGI server for high-concurrency request routing.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Database Deployment: MongoDB Community Edition for self-hosted setups, or MongoDB Atlas for managed cloud storage.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Biometric Library Compilation: Pre-installed build tools (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CMake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,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gcc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/g++) required to compile C++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dependencies.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212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Segoe UI"/>
              </a:rPr>
              <a:t>Client Devices &amp; In-Class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212080" cy="24529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Android Client OS: Android 8.0 Oreo (API Level 26) or higher required to support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CameraX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API and BLE features.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Hardware Permissions: User must grant Camera, Fine Location, and Bluetooth Scanning permissions during runtime.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Classroom BLE Beacons: Bluetooth Low Energy beacons (iBeacon format) deployed and calibrated in each classroom.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In-Class Displays: Projection screens or monitor setups to show the dynamic visual OTP code during verification windows.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FINANCIAL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Cost Structure &amp; Financial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5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Estimated Operational Cost Breakdown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462" y="1901952"/>
            <a:ext cx="5572500" cy="40416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512064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4028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Specification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4028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Estimated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43200"/>
            <a:ext cx="51206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Segoe UI"/>
              </a:rPr>
              <a:t>Cloud Server 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3464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2 vCPU, 4GB RAM VPS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834640"/>
            <a:ext cx="1097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$15 - $40 / 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91840"/>
            <a:ext cx="51206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Segoe UI"/>
              </a:rPr>
              <a:t>NoSQL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38328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MongoDB Atlas (M10 tier)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80"/>
            <a:ext cx="1097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$0 - $30 / 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40480"/>
            <a:ext cx="51206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Segoe UI"/>
              </a:rPr>
              <a:t>Physical BLE Beacons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93192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1 Unit per Classroom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931920"/>
            <a:ext cx="1097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$15 / room (one-time)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389120"/>
            <a:ext cx="51206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480560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Segoe UI"/>
              </a:rPr>
              <a:t>Domain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48056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Custom Domain + SSL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480560"/>
            <a:ext cx="1097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$10 / year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937760"/>
            <a:ext cx="51206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Segoe UI"/>
              </a:rPr>
              <a:t>User App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02920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Google Play Console fee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029200"/>
            <a:ext cx="1097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$25 (one-time)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Segoe UI"/>
              </a:rPr>
              <a:t>Economic Value &amp; ROI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011680"/>
            <a:ext cx="5029200" cy="24529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Zero License Fees: Built entirely on open-source dependencies (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FastAPI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, OpenCV, ML Kit), eliminating recurring user licensing costs.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Hardware Cost Savings: Eliminates the need for dedicated biometric hardware terminals by leveraging students' existing mobile devices.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Administrative Efficiency: Pays for itself rapidly by recovering over 15 hours of manual roll-call time per course per semester.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Scale Flexibility: Free tier database and low-cost server tiers allow initial pilot testing without any upfront software capital expense.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ENGINEERING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Technical Challenges &amp; Engineering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6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Android BLE Scan Latency &amp; Mismatch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8600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Challenge: Android BLE scanner takes time to locate and return advertising beacons, causing timeouts.
Resolution: Switched scan settings to Low Latency Mode and created a 4-second scan accumulation map to filter room beacons.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Camera Aspect-Ratio Image Warping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28600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423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Challenge: Raw output from front cameras is stretched or distorted when loading face models, affecting accuracy.
Resolution: Programmed custom cropping logic mapping coordinates directly to CameraX viewfinders.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GPS Drift in Concrete Buildings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Challenge: Thick concrete classroom walls block GPS signals, causing drift and false failures.
Resolution: Set GPS checks to a wider 200m range and combined location coordinates with local room BLE scans.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Concurrency &amp; Write-blocking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57200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709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Challenge: Heavy database read/write requests slow down responses during large classroom attendance sessions.
Resolution: Setup indexed fields on student rolls and set FastAPI to write class CSVs asynchronously.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SYSTEM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Measurable Benefits &amp; Operational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7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System Advantages &amp; Value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Security Hardening: Eliminates buddy punching, QR sharing, and GPS spoofing completely.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Administrative Time Savings: Reduces roll call times from 10 minutes to under 5 seconds per student.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Paperless Tracking: Saves administrative hours by automating classroom statistics and monthly reports.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Self-contained: Fully open-source dependencies run without expensive third-party APIs.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Real-time visibility: Dashboard updates instantly when students pass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2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PROXY ELIMINATION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2926080" cy="3600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US" sz="1050" dirty="0">
                <a:solidFill>
                  <a:srgbClr val="94A3B8"/>
                </a:solidFill>
                <a:latin typeface="Segoe UI"/>
              </a:rPr>
              <a:t>Significantly reduces common proxy attendance attempts.</a:t>
            </a:r>
            <a:r>
              <a:rPr sz="1050" b="0" dirty="0">
                <a:solidFill>
                  <a:srgbClr val="94A3B8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108960"/>
            <a:ext cx="4846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3291840"/>
            <a:ext cx="13716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200" b="1">
                <a:solidFill>
                  <a:srgbClr val="06B6D4"/>
                </a:solidFill>
                <a:latin typeface="Segoe UI"/>
              </a:rPr>
              <a:t>&lt; 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VERIFICATION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57600"/>
            <a:ext cx="2926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Segoe UI"/>
              </a:rPr>
              <a:t>Fast and smooth student login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72000"/>
            <a:ext cx="4846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4754880"/>
            <a:ext cx="13716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200" b="1">
                <a:solidFill>
                  <a:srgbClr val="22C55E"/>
                </a:solidFill>
                <a:latin typeface="Segoe U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006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MANUAL 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120640"/>
            <a:ext cx="2926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Segoe UI"/>
              </a:rPr>
              <a:t>Automatic real-time Excel/CSV exports.</a:t>
            </a:r>
          </a:p>
        </p:txBody>
      </p:sp>
      <p:pic>
        <p:nvPicPr>
          <p:cNvPr id="23" name="Graphic 22" descr="Drama with solid fill">
            <a:extLst>
              <a:ext uri="{FF2B5EF4-FFF2-40B4-BE49-F238E27FC236}">
                <a16:creationId xmlns:a16="http://schemas.microsoft.com/office/drawing/2014/main" id="{6B440563-C17F-58A7-E3F7-11576B533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0049" y="184480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Next-Gen Attendance Advancements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8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EDGE FACE RECOGNITION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16476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Run facial similarity checks locally using TensorFlow Lite on device.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Saves bandwidth: Uploads only verification hashes instead of full photos.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Zero server CV overhead: Scales easily to thousands of concurrent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Segoe UI"/>
              </a:rPr>
              <a:t>MULTI-SPECTRAL LIVENESS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10896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108960" cy="16476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Incorporate IR/depth sensors on phones supporting advanced biometric API.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Defeats high-res 3D masks and deepfake screens.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Continuous verification: Track attendance status throughout the lecture.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AI PREDICTIVE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16476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Analyze student attendance trends using machine learning models.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Predicts semester dropouts and alerts advisors automatically.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Optimizes classroom schedules by identifying peaks in student absence.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PROJECT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Current System Limitations &amp;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29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Segoe UI"/>
              </a:rPr>
              <a:t>BIOMETRIC &amp; ENVIRONMENT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3108960" cy="137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215546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Lighting Dependency: Extreme low-light conditions in lecture halls can degrade facial recognition accuracy.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Occlusion Sensitivity: Users must remove heavy facial coverings, sunglasses, or medical masks for biometric scanning.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Device Alignment: Low-resolution front cameras may experience higher vector distance mismatch margins.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Segoe UI"/>
              </a:rPr>
              <a:t>HARDWARE &amp; NETWORKS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108960" cy="137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108960" cy="215546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GPS Signal Blockage: Dense concrete classroom walls can block GPS signals, making BLE scans the critical fallback.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Beacon Range Calibration: Requiring precise transmission power calibration to prevent corridor/adjacent room bleeding.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Platform Lock-in: Native client software is currently restricted to Android devices, lacking iOS support.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Segoe UI"/>
              </a:rPr>
              <a:t>OPERATIONAL 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108960" cy="137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23247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Onboarding Overhead: Requires a one-time onboarding enrollment step for face vector database initialization.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Proxy Token Sharing: While JWT session locks block multi-device logins, they do not prevent students from sharing OTPs offsite if BLE is bypassed.</a:t>
            </a:r>
            <a:endParaRPr lang="en-IN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Server Latency: Simultaneous uploads of image binaries at the end of a session can cause brief queue bottlenecks.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UX DESIGN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Client Mobile Interface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30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Key User Interface Screens &amp; Interactive Elements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SPLASH &amp; ROLE SELECT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6324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Interactive role select with custom canvas mesh backgrounds.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01168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214884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146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LOGIN &amp; REGISTER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306324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315468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Includes email validation, passwords, and face enrollment.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01168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STUDENT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6324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5468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Shows weekly graphs, active sessions, and attendance statuses.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201168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214884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5146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CODE INPUT DIALOG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06324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6840" y="315468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A Material Design popup checking dynamic visual OTP codes.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1480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25196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1772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BLE SCANNER 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16636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25780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Real-time background scanner filtering room beacons.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411480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11880" y="425196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61772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LIVENESS OVERLAY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11880" y="516636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11880" y="525780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Draws face framing ovals and arrow directions for head turns.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11480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425196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61772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SUCCESS SCREEN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16636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525780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Lottie animation playing on verified attendance marks.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411480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06840" y="425196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61772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REPORTS &amp; EXPORT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516636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06840" y="525780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Class list overview displaying real-time CSV statistics.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Securing Modern Classrooms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31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Project Conclusion &amp; Accomplishments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Successfully designed, implemented, and verified a secure, multi-factor automated attendance management system.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Integrated mobile sensors, local ML analytics, and server-side biometrics to create a robust security shield.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Eliminated attendance vulnerabilities (GPS mocking, QR sharing, buddy punching, static photos).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Greatly reduced administrative load for teachers by automating statistics and spreadsheet logs.</a:t>
            </a:r>
            <a:endParaRPr lang="en-IN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Ecosystem ready for deployment across academic and enterprise training environments.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2011680"/>
            <a:ext cx="4480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Segoe UI"/>
              </a:rPr>
              <a:t>KEY DELIVERABLE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3840480" cy="27504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Secure: Low Euclidean matching limits.</a:t>
            </a:r>
            <a:endParaRPr lang="en-IN" sz="13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3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Fast: Complete verification takes under 5s.</a:t>
            </a:r>
            <a:endParaRPr lang="en-IN" sz="13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3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Automated: Logs compiled in real-time CSV formats.</a:t>
            </a:r>
            <a:endParaRPr lang="en-IN" sz="13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3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No Spoofing: Robust head-turning liveness detection.</a:t>
            </a:r>
            <a:endParaRPr lang="en-IN" sz="13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3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On-device Processing: Client-side facial analysis.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346704" y="685800"/>
            <a:ext cx="5486400" cy="5486400"/>
          </a:xfrm>
          <a:prstGeom prst="ellipse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Segoe U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800" b="0">
                <a:solidFill>
                  <a:srgbClr val="06B6D4"/>
                </a:solidFill>
                <a:latin typeface="Segoe UI"/>
              </a:rPr>
              <a:t>Questions &amp;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1104" y="3383280"/>
            <a:ext cx="3657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89504" y="3840480"/>
            <a:ext cx="64008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72384" y="4023360"/>
            <a:ext cx="6035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06B6D4"/>
                </a:solidFill>
                <a:latin typeface="Segoe UI"/>
              </a:rPr>
              <a:t>AUTOMATED ATTENDANCE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24" y="4434840"/>
            <a:ext cx="585216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Ecosystem Source: github.com/Slothyi/Automated-attendance-management-system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Technical Architecture: Python FastAPI Gateway | Kotlin Android App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Biometrics Engine: Google ML Kit Face Analysis &amp; dlib 128D Matching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5101</Words>
  <Application>Microsoft Office PowerPoint</Application>
  <PresentationFormat>Widescreen</PresentationFormat>
  <Paragraphs>743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saikat mukherjee</dc:creator>
  <cp:keywords/>
  <dc:description>generated using python-pptx</dc:description>
  <cp:lastModifiedBy>saikat mukherjee</cp:lastModifiedBy>
  <cp:revision>5</cp:revision>
  <dcterms:created xsi:type="dcterms:W3CDTF">2013-01-27T09:14:16Z</dcterms:created>
  <dcterms:modified xsi:type="dcterms:W3CDTF">2026-06-05T01:30:53Z</dcterms:modified>
  <cp:category/>
</cp:coreProperties>
</file>