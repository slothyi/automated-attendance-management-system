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1" r:id="rId16"/>
    <p:sldId id="282" r:id="rId17"/>
    <p:sldId id="283" r:id="rId18"/>
    <p:sldId id="284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64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0C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4200" b="1">
                <a:solidFill>
                  <a:srgbClr val="F8FAFC"/>
                </a:solidFill>
                <a:latin typeface="Segoe UI"/>
              </a:rPr>
              <a:t>AUTOMATED ATTENDANCE
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800" b="0" dirty="0">
                <a:solidFill>
                  <a:srgbClr val="06B6D4"/>
                </a:solidFill>
                <a:latin typeface="Segoe UI"/>
              </a:rPr>
              <a:t>A </a:t>
            </a:r>
            <a:r>
              <a:rPr lang="en-IN" dirty="0">
                <a:solidFill>
                  <a:srgbClr val="06B6D4"/>
                </a:solidFill>
                <a:latin typeface="Segoe UI"/>
              </a:rPr>
              <a:t>Four</a:t>
            </a:r>
            <a:r>
              <a:rPr sz="1800" b="0" dirty="0">
                <a:solidFill>
                  <a:srgbClr val="06B6D4"/>
                </a:solidFill>
                <a:latin typeface="Segoe UI"/>
              </a:rPr>
              <a:t>-Factor Biometric, Geofenced,</a:t>
            </a:r>
            <a:r>
              <a:rPr lang="en-IN" sz="1800" b="0" dirty="0">
                <a:solidFill>
                  <a:srgbClr val="06B6D4"/>
                </a:solidFill>
                <a:latin typeface="Segoe UI"/>
              </a:rPr>
              <a:t> </a:t>
            </a:r>
            <a:r>
              <a:rPr sz="1800" b="0" dirty="0">
                <a:solidFill>
                  <a:srgbClr val="06B6D4"/>
                </a:solidFill>
                <a:latin typeface="Segoe UI"/>
              </a:rPr>
              <a:t>BLE Proximity Verification</a:t>
            </a:r>
            <a:r>
              <a:rPr lang="en-IN" dirty="0">
                <a:solidFill>
                  <a:srgbClr val="06B6D4"/>
                </a:solidFill>
                <a:latin typeface="Segoe UI"/>
              </a:rPr>
              <a:t> and visual dynamic OTP</a:t>
            </a:r>
            <a:endParaRPr sz="1800" b="0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4114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1036289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DEVELOPED FOR: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3657600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Segoe UI"/>
              </a:rPr>
              <a:t>Final Year Project</a:t>
            </a:r>
            <a:endParaRPr sz="1200" b="0" dirty="0">
              <a:solidFill>
                <a:srgbClr val="F8FAFC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03520" y="4572000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CORE SYSTEM CAPABILITIES: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846320"/>
            <a:ext cx="566928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 dirty="0">
                <a:solidFill>
                  <a:srgbClr val="F8FAFC"/>
                </a:solidFill>
                <a:latin typeface="Segoe UI"/>
              </a:rPr>
              <a:t>•  GPS Geofencing with Native Android Anti-Mock Protection</a:t>
            </a:r>
          </a:p>
          <a:p>
            <a:pPr>
              <a:spcAft>
                <a:spcPts val="500"/>
              </a:spcAft>
            </a:pPr>
            <a:r>
              <a:rPr sz="1050" dirty="0">
                <a:solidFill>
                  <a:srgbClr val="F8FAFC"/>
                </a:solidFill>
                <a:latin typeface="Segoe UI"/>
              </a:rPr>
              <a:t>•  BLE Scan Matching Room Beacons &amp; Visual Time-Sensitive OTPs</a:t>
            </a:r>
          </a:p>
          <a:p>
            <a:pPr>
              <a:spcAft>
                <a:spcPts val="500"/>
              </a:spcAft>
            </a:pPr>
            <a:r>
              <a:rPr sz="1050" dirty="0">
                <a:solidFill>
                  <a:srgbClr val="F8FAFC"/>
                </a:solidFill>
                <a:latin typeface="Segoe UI"/>
              </a:rPr>
              <a:t>•  On-device ML Kit Facial Liveness + Server-side Deep Face 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The Attendance Dilemma in Higher Education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2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The Critical Cost of Manual 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029200" cy="253761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50" dirty="0">
                <a:solidFill>
                  <a:srgbClr val="F8FAFC"/>
                </a:solidFill>
                <a:latin typeface="Segoe UI"/>
              </a:rPr>
              <a:t>•  Traditional manual roll calls take 10 to 15 minutes per lecture, wasting valuable instructional hours across semesters.</a:t>
            </a:r>
            <a:endParaRPr lang="en-US" sz="12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50" dirty="0">
                <a:solidFill>
                  <a:srgbClr val="F8FAFC"/>
                </a:solidFill>
                <a:latin typeface="Segoe UI"/>
              </a:rPr>
              <a:t>•  Paper registers are fragile, prone to damage, and offer zero security controls against malicious modifications.</a:t>
            </a:r>
            <a:endParaRPr lang="en-US" sz="12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50" dirty="0">
                <a:solidFill>
                  <a:srgbClr val="F8FAFC"/>
                </a:solidFill>
                <a:latin typeface="Segoe UI"/>
              </a:rPr>
              <a:t>•  Compiling reports manually creates immense administrative overhead, causing transcription errors and data delays.</a:t>
            </a:r>
            <a:endParaRPr lang="en-US" sz="12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50" dirty="0">
                <a:solidFill>
                  <a:srgbClr val="F8FAFC"/>
                </a:solidFill>
                <a:latin typeface="Segoe UI"/>
              </a:rPr>
              <a:t>•  Physical tracking systems lack an audit trail, making it extremely difficult to verify records during inspections.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Segoe UI"/>
              </a:rPr>
              <a:t>Proxy Attendance (Buddy Punching)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Absent students routinely ask classmates to mark them present on sign-in sheets or log responses using shared account links.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00400"/>
            <a:ext cx="52120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48463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Segoe UI"/>
              </a:rPr>
              <a:t>Location &amp; Identity Fraud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484632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Students utilize GPS spoofing apps or display a photograph of an absent peer to simple camera scanners to falsify their presence.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754880"/>
            <a:ext cx="52120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846320"/>
            <a:ext cx="48463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Segoe UI"/>
              </a:rPr>
              <a:t>QR Code Exploitation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20640"/>
            <a:ext cx="484632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Static QR codes displayed on projectors are instantly photographed and shared via messaging groups, allowing remote sign-ins.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EXISTING SYSTEM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Why Current Automated Systems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2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2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Segoe UI"/>
              </a:rPr>
              <a:t>Common Technical Flaws &amp; Security Exploits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338328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017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Segoe UI"/>
              </a:rPr>
              <a:t>Static QR Scan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3017520" cy="177074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No Proximity Proof: QR images are sent to external student groups instantly.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Absent students scan shared QR images from dorms or off-campus locations.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Zero user validation occurs when the QR scanner acts independently of bios.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38328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17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Segoe UI"/>
              </a:rPr>
              <a:t>GPS Spoofing Flaws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43200"/>
            <a:ext cx="3017520" cy="177074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Android mock location services allow apps to inject custom latitude/longitude.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GPS drift inside concrete buildings causes false-positives and rejects.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No verification of whether the student is actually inside the room or outside.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38328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017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Segoe UI"/>
              </a:rPr>
              <a:t>Static Biometric Flaws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43200"/>
            <a:ext cx="3017520" cy="177074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Facial scanners without liveness check can be fooled using prints/screens.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Device sharing: one student logs into multiple accounts on their phone.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Heavy server latency when matching raw images without local filtering.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 dirty="0">
                <a:solidFill>
                  <a:srgbClr val="F8FAFC"/>
                </a:solidFill>
                <a:latin typeface="Segoe UI"/>
              </a:rPr>
              <a:t>The </a:t>
            </a:r>
            <a:r>
              <a:rPr lang="en-IN" sz="2600" b="1" dirty="0">
                <a:solidFill>
                  <a:srgbClr val="F8FAFC"/>
                </a:solidFill>
                <a:latin typeface="Segoe UI"/>
              </a:rPr>
              <a:t>Four</a:t>
            </a:r>
            <a:r>
              <a:rPr sz="2600" b="1" dirty="0">
                <a:solidFill>
                  <a:srgbClr val="F8FAFC"/>
                </a:solidFill>
                <a:latin typeface="Segoe UI"/>
              </a:rPr>
              <a:t>-Factor Verification Shield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3 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/ 2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21945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GPS GEOFENCING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08960"/>
            <a:ext cx="219456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2194560" cy="2377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Checks device coordinates against campus boundaries using Android location services, checking and blocking mock providers natively.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25603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80" y="18288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400" b="1">
                <a:solidFill>
                  <a:srgbClr val="06B6D4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468880"/>
            <a:ext cx="21945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BLE ROOM PROXIMITY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3108960"/>
            <a:ext cx="219456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3291840"/>
            <a:ext cx="2194560" cy="2377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Scans BLE advertisements from the classroom beacon. Proves physical presence inside the lecture hall via signal attenuation.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645920"/>
            <a:ext cx="25603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18288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68880"/>
            <a:ext cx="21945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VISUAL DYNAMIC OTP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108960"/>
            <a:ext cx="219456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3291840"/>
            <a:ext cx="2194560" cy="7448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50" b="0" dirty="0">
                <a:solidFill>
                  <a:srgbClr val="94A3B8"/>
                </a:solidFill>
                <a:latin typeface="Segoe UI"/>
              </a:rPr>
              <a:t>A time-sensitive 5-digit hex code generated by the admin. Displayed to students in-class and expires within </a:t>
            </a:r>
            <a:r>
              <a:rPr lang="en-IN" sz="1150" dirty="0">
                <a:solidFill>
                  <a:srgbClr val="94A3B8"/>
                </a:solidFill>
                <a:latin typeface="Segoe UI"/>
              </a:rPr>
              <a:t>5</a:t>
            </a:r>
            <a:r>
              <a:rPr sz="1150" b="0" dirty="0">
                <a:solidFill>
                  <a:srgbClr val="94A3B8"/>
                </a:solidFill>
                <a:latin typeface="Segoe UI"/>
              </a:rPr>
              <a:t> minutes.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645920"/>
            <a:ext cx="25603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18288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400" b="1">
                <a:solidFill>
                  <a:srgbClr val="06B6D4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468880"/>
            <a:ext cx="21945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LIVENESS &amp; BIOMETRICS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3108960"/>
            <a:ext cx="219456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3291840"/>
            <a:ext cx="2194560" cy="2377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Google ML Kit prompts randomized head turns to verify liveness. Server performs deep 128D facial vector matching.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Project Overview &amp; Ecosystem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4 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Ecosystem Integration &amp; Workflow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486400" cy="31352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Dynamic Classrooms: Faculty initializes secure, temporary attendance sessions that broadcast dynamic identifiers and visual OTPs.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Sensor Fusion Client: Students utilize a custom Kotlin Android app integrating camera, GPS sensors, and Bluetooth hardware to scan environments.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Asynchronous Processing: The 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FastAPI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 backend acts as a gateway, validating physical proximity, verifying identity vectors, and persisting logs.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Anti-Proxy Validation: Verification is failed if any single credential check, location validation, or facial liveness scan is bypassed.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Integrated Reporting: Automatic CSV logs are generated inside classes, tracking cumulative statistics, absences, and registration vectors.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2976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Segoe UI"/>
              </a:rPr>
              <a:t>Ecosystem Workflow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86000"/>
            <a:ext cx="182880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1. Faculty Starts Session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200400"/>
            <a:ext cx="182880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2. Student Scans Environment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114800"/>
            <a:ext cx="182880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3. ML Face &amp; Liveness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5029200"/>
            <a:ext cx="182880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4. Save DB &amp; Append 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38844" y="2834640"/>
            <a:ext cx="2743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38844" y="3749039"/>
            <a:ext cx="27432" cy="36576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38844" y="4663440"/>
            <a:ext cx="2743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Built with Modern SaaS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5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Segoe UI"/>
              </a:rPr>
              <a:t>STUDENT MOBILE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3108960" cy="291977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Kotlin: Primary language for Android Native App Development.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CameraX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Jetpack API: Robust and unified camera preview and image capture framework.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Google ML Kit: Runs on-device face detection and head Euler angles extraction.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BLE Scanning Engine: Bluetooth Low Energy scanner for beacon filtering.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Retrofit &amp;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OkHttp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: Secure network request management with dynamic headers.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06B6D4"/>
                </a:solidFill>
                <a:latin typeface="Segoe UI"/>
              </a:rPr>
              <a:t>API GATEWAY &amp; 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286000"/>
            <a:ext cx="3108960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468880"/>
            <a:ext cx="3108960" cy="291977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FastAPI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: Python framework for high-throughput, async request routing.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Uvicorn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: Lightning-fast ASGI web server implementation.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JWT Authentication: Cryptographically signed security tokens for users.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Passlib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&amp;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BCrypt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: Password hashing and security context storage.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CSV Logger: File-append log engine representing physical sheets.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Segoe UI"/>
              </a:rPr>
              <a:t>STORAGE &amp; ML MATCHING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28600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3108960" cy="291977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MongoDB NoSQL: JSON document database storing student and session records.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dlib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/ Face Recognition: Computes 128D biometric face vectors on the server.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OpenCV Python: Resizes and normalizes images for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dlib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performance.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NumPy Library: Calculates fast vectorized Euclidean distance for matches.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PyMongo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: Low-latency driver connecting Python directly to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End-to-End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6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3774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Segoe UI"/>
              </a:rPr>
              <a:t>Student Device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2860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Android App
(Kotlin UI)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2004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ML Kit
(Liveness Step)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1148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Location &amp; BLE
(GPS / BLE Scan)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0292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Retrofit Client
(Network requests)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645920"/>
            <a:ext cx="23774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0" y="1828800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Segoe UI"/>
              </a:rPr>
              <a:t>FastAPI 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2860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ASGI Web Server
(Uvicorn)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2004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APIRouter
(Route handling)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1148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Auth Middleware
(JWT active_token)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502920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Controllers
(Business logic)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645920"/>
            <a:ext cx="23774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1828800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  <a:latin typeface="Segoe UI"/>
              </a:rPr>
              <a:t>Deep Learning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256032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OpenCV Python
(Image Normalizer)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47472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dlib Engine
(HOG Face Detector)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38912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Face Encoder
(128D vector extraction)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5212080"/>
            <a:ext cx="1828800" cy="640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NumPy Evaluator
(Euclidean matching)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1645920"/>
            <a:ext cx="16459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66960" y="182880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Segoe UI"/>
              </a:rPr>
              <a:t>Storage Layer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2560320"/>
            <a:ext cx="128016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MongoDB
Atlas DB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3840480"/>
            <a:ext cx="128016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Static File
Store (JPG)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5029200"/>
            <a:ext cx="128016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CSV Log
Exporters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826764"/>
            <a:ext cx="7315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3826764"/>
            <a:ext cx="73152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326880" y="3826764"/>
            <a:ext cx="64008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Modular Application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7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ADMIN PORTAL &amp; SYSTEM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86000"/>
            <a:ext cx="484632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Class Creation: Define subject names, branches, and schedules.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Student Registration: Add roll numbers and names to class lists.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Session Controller: Activate BLE codes and dynamic visual OTPs.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Report Engine: View present/absent statistics and export CSVs.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828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STUDENT DEVICE UTILITIES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286000"/>
            <a:ext cx="484632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423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Ecosystem Select: Log in as a student or connect as admin.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GPS Verification: Pulls active GPS coordinates from Android.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BLE Proximity Scan: Searches nearby BLE beacons for classroom validation.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Visual OTP Verification: Input visual validation codes directly.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14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COMPUTER VISION BIOMETRIC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572000"/>
            <a:ext cx="484632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ML Kit Analyzer: Local face search, checking yaw and pitch.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Head-Turn Tracker: Evaluates random directions for anti-spoof.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Face Cropper: Local scaling &amp; cropping to minimize upload sizes.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dlib Matcher: Server matches 128D face encodings within 0.5 limit.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4114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114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AUTHENTICATION &amp; MIDDLEWARE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572000"/>
            <a:ext cx="484632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709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JWT Management: Secure token generation mapping to admin/student.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Single-Device Lock: Server compares requests with DB active_token.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Password Encryption: Bcrypt hashing applied during registration.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CORS &amp; Security Settings: Restricts API routing to trusted clients.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DATA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MongoDB Collection Schemas &amp; Relations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8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Segoe UI"/>
              </a:rPr>
              <a:t>ADMINS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30175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Primary Admin Details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40280"/>
            <a:ext cx="30175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_id: ObjectId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name: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email: String (Unique)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password: Hash (Bcrypt)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78308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Segoe UI"/>
              </a:rPr>
              <a:t>REGISTERED_STUDENTS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0175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Onboarded Accounts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240280"/>
            <a:ext cx="30175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233172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_id: ObjectId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name / roll / email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password: Hash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face_encoding: Array[128]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class_id: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active_token: JWT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78308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Segoe UI"/>
              </a:rPr>
              <a:t>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0175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Authorized Rolls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240280"/>
            <a:ext cx="30175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33172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_id: ObjectId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name / roll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class_id: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class_name: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attendance_status: Str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16052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Segoe UI"/>
              </a:rPr>
              <a:t>CLASSES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30175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Class &amp; Schedules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617720"/>
            <a:ext cx="30175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70916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_id: ObjectId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class_name / section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department / semester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created_by: AdminId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students: Array[Objects]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expires_at: DateTime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416052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Segoe UI"/>
              </a:rPr>
              <a:t>ATTENDANCE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389120"/>
            <a:ext cx="30175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Attendance Logs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617720"/>
            <a:ext cx="30175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0" y="470916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_id: ObjectId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student_id: ObjectId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name / roll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class_name: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date: String (YYYY-MM-DD)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status: Str ('Present')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0" y="416052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Segoe UI"/>
              </a:rPr>
              <a:t>ATTENDANCE_SESSIONS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389120"/>
            <a:ext cx="30175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Active Live Sessions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617720"/>
            <a:ext cx="30175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0" y="4709160"/>
            <a:ext cx="3017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_id: ObjectId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class_id: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session_code / session_uuid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bluetooth_name: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classroom_beacon: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otp_code: String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F8FAFC"/>
                </a:solidFill>
                <a:latin typeface="Segoe UI"/>
              </a:rPr>
              <a:t>•  active: Boolean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Secure Authentication &amp; Single Device Locking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9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06B6D4"/>
                </a:solidFill>
                <a:latin typeface="Segoe UI"/>
              </a:rPr>
              <a:t>Student Onboarding (Face Enrollment)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2545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Pre-Authorization Check: Registration fails if the student's name and roll number are not pre-authorized by an admin in students collection.</a:t>
            </a:r>
            <a:endParaRPr lang="en-US"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Initial Registration: Users input email, roll number, password, and upload a registration photo.</a:t>
            </a:r>
            <a:endParaRPr lang="en-US"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Duplicate Face Check: Server extracts a 128D face vector. Scans database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registered_students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 collection for any matching vector (Euclidean distance &lt; 0.5). Blocks duplicate registrations.</a:t>
            </a:r>
            <a:endParaRPr lang="en-US"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Bcrypt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 &amp; JWT Setup: Password is hashed using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bcrypt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. Profile is stored in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registered_students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 collection containing the facial vector.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212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700" b="1">
                <a:solidFill>
                  <a:srgbClr val="3B82F6"/>
                </a:solidFill>
                <a:latin typeface="Segoe UI"/>
              </a:rPr>
              <a:t>Login &amp; Session Device Locking (active_token)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5212080" cy="28505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Credential Check: User logs in with email and password via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bcrypt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 comparison.</a:t>
            </a:r>
            <a:endParaRPr lang="en-US"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Unique JWT Generation: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FastAPI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 creates a unique JWT token embedding user ID and role ('student').</a:t>
            </a:r>
            <a:endParaRPr lang="en-US"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Session Locking (Database Update): The database updates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registered_students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 with the new JWT as the current '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active_token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'.</a:t>
            </a:r>
            <a:endParaRPr lang="en-US"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Authorization Guard (Middleware): Every request carries the token. The auth dependency compares the request token against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active_token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 in the DB.</a:t>
            </a:r>
            <a:endParaRPr lang="en-US"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5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F8FAFC"/>
                </a:solidFill>
                <a:latin typeface="Segoe UI"/>
              </a:rPr>
              <a:t>•  Proxy Defense: If a student shares credentials, a login on a second device updates the </a:t>
            </a:r>
            <a:r>
              <a:rPr sz="1150" dirty="0" err="1">
                <a:solidFill>
                  <a:srgbClr val="F8FAFC"/>
                </a:solidFill>
                <a:latin typeface="Segoe UI"/>
              </a:rPr>
              <a:t>active_token</a:t>
            </a:r>
            <a:r>
              <a:rPr sz="1150" dirty="0">
                <a:solidFill>
                  <a:srgbClr val="F8FAFC"/>
                </a:solidFill>
                <a:latin typeface="Segoe UI"/>
              </a:rPr>
              <a:t>. The first device is immediately logged 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PROCESS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Faculty Admin Session Creation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IN" sz="1000" b="1" dirty="0">
                <a:solidFill>
                  <a:srgbClr val="06B6D4"/>
                </a:solidFill>
                <a:latin typeface="Segoe UI"/>
              </a:rPr>
              <a:t>10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Segoe UI"/>
              </a:rPr>
              <a:t>Steps for starting an attendance session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6B6D4"/>
                </a:solidFill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Logs into Admin dashboard via secure bcrypt auth.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918204"/>
            <a:ext cx="137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51460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88036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6B6D4"/>
                </a:solidFill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CREATE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Defines name, section, year, and semester.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918204"/>
            <a:ext cx="137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9768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6344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6B6D4"/>
                </a:solidFill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START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Clicks 'Start' for a specific class to trigger session creation.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918204"/>
            <a:ext cx="137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080759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46519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6B6D4"/>
                </a:solidFill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GENERATE META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19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Server creates dynamic UUID, BLE identifier &amp; 5-digit hex OTP.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3918204"/>
            <a:ext cx="137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86384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2960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6B6D4"/>
                </a:solidFill>
              </a:rPr>
              <a:t>Step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BROADCAST/SHOW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Beacon starts advertising BLE name. Visual OTP is shown on screen.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3918204"/>
            <a:ext cx="1371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64692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01268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6B6D4"/>
                </a:solidFill>
              </a:rPr>
              <a:t>Step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AUTO-EXPIRE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The active session expires automatically in 10 minutes.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Student Attendance Marking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Segoe UI"/>
              </a:rPr>
              <a:t>Steps to log verification variables and verify attendance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B82F6"/>
                </a:solidFill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JOIN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Student opens Android app, selects class, and taps Mark Attendance.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918204"/>
            <a:ext cx="1371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51460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88036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B82F6"/>
                </a:solidFill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GPS 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App pulls location. Coordinates must be within 200m of campus.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918204"/>
            <a:ext cx="1371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9768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6344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B82F6"/>
                </a:solidFill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ENTER OTP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Manually enters the 5-digit hex OTP shown by the professor.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918204"/>
            <a:ext cx="1371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080759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46519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B82F6"/>
                </a:solidFill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BLE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19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App scans BLE advertisements. Finds matching room beacon.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3918204"/>
            <a:ext cx="1371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86384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2960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B82F6"/>
                </a:solidFill>
              </a:rPr>
              <a:t>Step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LIVENESS SCAN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Front camera opens. Prompts head turns to verify liveness.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3918204"/>
            <a:ext cx="1371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646920" y="2194560"/>
            <a:ext cx="16459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012680" y="2377440"/>
            <a:ext cx="914400" cy="9144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B82F6"/>
                </a:solidFill>
              </a:rPr>
              <a:t>Step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474720"/>
            <a:ext cx="1463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MARK PRESENT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931920"/>
            <a:ext cx="137160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Server processes face match, registers present status, logs in CSV.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COMMUNICATION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Proximity Proof via BLE Beacons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Bluetooth Low Energy (BLE) Verification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303520" cy="31352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Scan Window: Upon starting verification, the student app activates background BLE scanning for exactly 4 seconds.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Name Filter: The app filters all nearby advertisements, checking for names matching the classroom beacon string (e.g. 'CLASS_CSE_A').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Signal Strength (RSSI) Check: Device RSSI values are collected. High attenuation indicates long distance from the beacon.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Proximity Proof: If the expected classroom beacon is detected in the scan map, it confirms the user is inside the physical room.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Fail Handling: If the beacon is missing or RSSI drops below the room threshold, the scan fails. Blocks logins from adjacent corridors or hallways.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920240"/>
            <a:ext cx="4480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Segoe UI"/>
              </a:rPr>
              <a:t>BLE Verification Proximity Proof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377440"/>
            <a:ext cx="192024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Teacher Phone / Beacon
CLASS_CSE_A Adv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91840"/>
            <a:ext cx="192024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Student BLE Scanner
4-Second Scan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206240"/>
            <a:ext cx="192024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Name Filter &amp;
RSSI Distance 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5120640"/>
            <a:ext cx="192024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Accept: Inside Room
Reject: Mismatch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3124" y="2926080"/>
            <a:ext cx="2743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93124" y="3840480"/>
            <a:ext cx="27432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93124" y="4754880"/>
            <a:ext cx="27432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COMPUTER VISION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Biometric Face Recognition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3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 dirty="0">
                <a:solidFill>
                  <a:srgbClr val="06B6D4"/>
                </a:solidFill>
                <a:latin typeface="Segoe UI"/>
              </a:rPr>
              <a:t>Server-Side Facial Embedding Extraction &amp; Distance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" y="2286000"/>
            <a:ext cx="5303520" cy="31352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Image Upload: The client sends a cropped front face JPEG via a multipart form to the '/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api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/attendance/mark' route.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Downscaling Preprocessing: The server resizes the image by 0.5x using OpenCV to speed up localization pipelines.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HOG Face Locator: OpenCV and 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dlib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 utilize the Histogram of Oriented Gradients (HOG) algorithm to locate the face bounding box.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128-Dimensional Vector: 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Dlib's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 deep learning face recognition model computes a 128D floating-point vector mapping unique facial nodes.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Euclidean Distance Check: Calculates 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np.linalg.norm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(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stored_vector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 - </a:t>
            </a:r>
            <a:r>
              <a:rPr sz="1200" dirty="0" err="1">
                <a:solidFill>
                  <a:srgbClr val="F8FAFC"/>
                </a:solidFill>
                <a:latin typeface="Segoe UI"/>
              </a:rPr>
              <a:t>upload_vector</a:t>
            </a:r>
            <a:r>
              <a:rPr sz="1200" dirty="0">
                <a:solidFill>
                  <a:srgbClr val="F8FAFC"/>
                </a:solidFill>
                <a:latin typeface="Segoe UI"/>
              </a:rPr>
              <a:t>). Values &lt; 0.5 indicate a match.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480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Segoe UI"/>
              </a:rPr>
              <a:t>Biometric Face Comparison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286000"/>
            <a:ext cx="1645920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Uploaded image
(Multipart JPEG)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286000"/>
            <a:ext cx="1645920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Face Bounding Box
(OpenCV / HOG)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291840"/>
            <a:ext cx="1828800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128D Face Embedding
(dlib extraction)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297680"/>
            <a:ext cx="1828800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Euclidean Evaluator
np.linalg.norm()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5303520"/>
            <a:ext cx="182880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Distance &lt; 0.5 Check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2638044"/>
            <a:ext cx="7315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38844" y="3017520"/>
            <a:ext cx="27432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38844" y="4023360"/>
            <a:ext cx="27432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38844" y="5029200"/>
            <a:ext cx="27432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97F0F-6E8A-B775-CC56-D889F51C8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0EE2D0-BCBE-6F38-46EB-600BDEDFE40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E87F4C-D131-A32F-90E8-BEC127A6116D}"/>
              </a:ext>
            </a:extLst>
          </p:cNvPr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COMPUTER VISION &amp; 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8128D-4579-9ED1-6492-73A2EC48C8AB}"/>
              </a:ext>
            </a:extLst>
          </p:cNvPr>
          <p:cNvSpPr txBox="1"/>
          <p:nvPr/>
        </p:nvSpPr>
        <p:spPr>
          <a:xfrm>
            <a:off x="731520" y="640080"/>
            <a:ext cx="1069848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2600" b="1" dirty="0">
                <a:solidFill>
                  <a:srgbClr val="F8FAFC"/>
                </a:solidFill>
                <a:latin typeface="Segoe UI"/>
              </a:rPr>
              <a:t>Face Recognition</a:t>
            </a:r>
            <a:endParaRPr sz="2600" b="1" dirty="0">
              <a:solidFill>
                <a:srgbClr val="F8FAFC"/>
              </a:solidFill>
              <a:latin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0DB16D-76F7-64CE-7AAB-E43F09D0E815}"/>
              </a:ext>
            </a:extLst>
          </p:cNvPr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CECE3-2351-12CE-BA6E-56DD9F8D31F4}"/>
              </a:ext>
            </a:extLst>
          </p:cNvPr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EB410-D3E7-EA85-7176-FC3ECDE4115C}"/>
              </a:ext>
            </a:extLst>
          </p:cNvPr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US" sz="1000" b="1" dirty="0">
                <a:solidFill>
                  <a:srgbClr val="06B6D4"/>
                </a:solidFill>
                <a:latin typeface="Segoe UI"/>
              </a:rPr>
              <a:t>4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0261661-F269-2ABB-43ED-031959045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95" y="2020823"/>
            <a:ext cx="5405252" cy="29483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16AD864-63B2-9AD2-188F-A8D337C92A5E}"/>
              </a:ext>
            </a:extLst>
          </p:cNvPr>
          <p:cNvSpPr txBox="1"/>
          <p:nvPr/>
        </p:nvSpPr>
        <p:spPr>
          <a:xfrm>
            <a:off x="6511325" y="1601420"/>
            <a:ext cx="5405252" cy="456124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400" b="1" dirty="0">
                <a:solidFill>
                  <a:srgbClr val="00B0F0"/>
                </a:solidFill>
              </a:rPr>
              <a:t>Image Capture</a:t>
            </a:r>
            <a:r>
              <a:rPr lang="en-IN" sz="1400" dirty="0">
                <a:solidFill>
                  <a:srgbClr val="00B0F0"/>
                </a:solidFill>
              </a:rPr>
              <a:t> </a:t>
            </a:r>
          </a:p>
          <a:p>
            <a:pPr marL="442913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The camera captures the student's face. </a:t>
            </a:r>
          </a:p>
          <a:p>
            <a:pPr marL="228600" indent="-228600">
              <a:buFont typeface="+mj-lt"/>
              <a:buAutoNum type="arabicPeriod"/>
            </a:pPr>
            <a:endParaRPr lang="en-IN" sz="1400" dirty="0">
              <a:solidFill>
                <a:schemeClr val="bg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b="1" dirty="0">
                <a:solidFill>
                  <a:srgbClr val="00B0F0"/>
                </a:solidFill>
              </a:rPr>
              <a:t>HOG Feature Extraction</a:t>
            </a:r>
            <a:r>
              <a:rPr lang="en-IN" sz="1400" dirty="0">
                <a:solidFill>
                  <a:srgbClr val="00B0F0"/>
                </a:solidFill>
              </a:rPr>
              <a:t>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Histogram of Oriented Gradients (HOG) </a:t>
            </a:r>
            <a:r>
              <a:rPr lang="en-IN" sz="1400" dirty="0" err="1">
                <a:solidFill>
                  <a:schemeClr val="bg1"/>
                </a:solidFill>
              </a:rPr>
              <a:t>analyzes</a:t>
            </a:r>
            <a:r>
              <a:rPr lang="en-IN" sz="1400" dirty="0">
                <a:solidFill>
                  <a:schemeClr val="bg1"/>
                </a:solidFill>
              </a:rPr>
              <a:t> edge directions and facial structures. </a:t>
            </a: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Converts the image into numerical gradient features. </a:t>
            </a:r>
          </a:p>
          <a:p>
            <a:pPr marL="263525"/>
            <a:endParaRPr lang="en-IN" sz="1400" dirty="0">
              <a:solidFill>
                <a:schemeClr val="bg1"/>
              </a:solidFill>
            </a:endParaRPr>
          </a:p>
          <a:p>
            <a:pPr marL="228600" indent="-228600">
              <a:buAutoNum type="arabicPeriod" startAt="3"/>
            </a:pPr>
            <a:r>
              <a:rPr lang="en-IN" sz="1400" b="1" dirty="0">
                <a:solidFill>
                  <a:srgbClr val="00B0F0"/>
                </a:solidFill>
              </a:rPr>
              <a:t>SVM Classification</a:t>
            </a:r>
            <a:r>
              <a:rPr lang="en-IN" sz="1400" dirty="0">
                <a:solidFill>
                  <a:srgbClr val="00B0F0"/>
                </a:solidFill>
              </a:rPr>
              <a:t>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A Support Vector Machine (SVM) classifier examines the extracted features. </a:t>
            </a: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Determines whether a region contains a face or not. </a:t>
            </a:r>
          </a:p>
          <a:p>
            <a:pPr marL="263525"/>
            <a:endParaRPr lang="en-IN" sz="1400" dirty="0">
              <a:solidFill>
                <a:schemeClr val="bg1"/>
              </a:solidFill>
            </a:endParaRPr>
          </a:p>
          <a:p>
            <a:pPr marL="228600" indent="-228600">
              <a:buAutoNum type="arabicPeriod" startAt="4"/>
            </a:pPr>
            <a:r>
              <a:rPr lang="en-IN" sz="1400" b="1" dirty="0">
                <a:solidFill>
                  <a:srgbClr val="00B0F0"/>
                </a:solidFill>
              </a:rPr>
              <a:t>Face Localization</a:t>
            </a:r>
            <a:r>
              <a:rPr lang="en-IN" sz="1400" dirty="0">
                <a:solidFill>
                  <a:srgbClr val="00B0F0"/>
                </a:solidFill>
              </a:rPr>
              <a:t>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A bounding box is drawn around the detected face. </a:t>
            </a: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The detected region is passed to the next stage for landmark detection.</a:t>
            </a:r>
          </a:p>
        </p:txBody>
      </p:sp>
    </p:spTree>
    <p:extLst>
      <p:ext uri="{BB962C8B-B14F-4D97-AF65-F5344CB8AC3E}">
        <p14:creationId xmlns:p14="http://schemas.microsoft.com/office/powerpoint/2010/main" val="3631198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E23D0-4B2E-27B7-CB70-0B47AE0F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D7557B-1553-6873-DE2B-15C4A27A96F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355C6-717C-6E80-0245-6350936DF233}"/>
              </a:ext>
            </a:extLst>
          </p:cNvPr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COMPUTER VISION &amp; 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BB2040-939E-F965-7C63-F2DAB6AA7011}"/>
              </a:ext>
            </a:extLst>
          </p:cNvPr>
          <p:cNvSpPr txBox="1"/>
          <p:nvPr/>
        </p:nvSpPr>
        <p:spPr>
          <a:xfrm>
            <a:off x="731520" y="640080"/>
            <a:ext cx="1069848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2600" b="1" dirty="0">
                <a:solidFill>
                  <a:srgbClr val="F8FAFC"/>
                </a:solidFill>
                <a:latin typeface="Segoe UI"/>
              </a:rPr>
              <a:t>Face Recognition</a:t>
            </a:r>
            <a:endParaRPr sz="2600" b="1" dirty="0">
              <a:solidFill>
                <a:srgbClr val="F8FAFC"/>
              </a:solidFill>
              <a:latin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3BF7EC-4225-386B-F1D6-434B7D14FDA0}"/>
              </a:ext>
            </a:extLst>
          </p:cNvPr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6D74AC-B1AB-7AEF-E321-0D5D331AE334}"/>
              </a:ext>
            </a:extLst>
          </p:cNvPr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594ED-3DC7-DD9E-066C-AF44F067C003}"/>
              </a:ext>
            </a:extLst>
          </p:cNvPr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US" sz="1000" b="1" dirty="0">
                <a:solidFill>
                  <a:srgbClr val="06B6D4"/>
                </a:solidFill>
                <a:latin typeface="Segoe UI"/>
              </a:rPr>
              <a:t>5 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CEECE8-F282-C439-5AEB-C25BE38EB78C}"/>
              </a:ext>
            </a:extLst>
          </p:cNvPr>
          <p:cNvSpPr txBox="1"/>
          <p:nvPr/>
        </p:nvSpPr>
        <p:spPr>
          <a:xfrm>
            <a:off x="6511325" y="1435821"/>
            <a:ext cx="5405252" cy="4022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400" b="1" dirty="0">
                <a:solidFill>
                  <a:srgbClr val="00B0F0"/>
                </a:solidFill>
              </a:rPr>
              <a:t>Facial Landmark Detection</a:t>
            </a:r>
          </a:p>
          <a:p>
            <a:pPr marL="228600" indent="-228600">
              <a:buFont typeface="+mj-lt"/>
              <a:buAutoNum type="arabicPeriod"/>
            </a:pPr>
            <a:endParaRPr lang="en-IN" sz="1400" dirty="0">
              <a:solidFill>
                <a:schemeClr val="bg1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endParaRPr lang="en-IN" sz="1400" b="1" dirty="0">
              <a:solidFill>
                <a:srgbClr val="00B0F0"/>
              </a:solidFill>
            </a:endParaRPr>
          </a:p>
          <a:p>
            <a:r>
              <a:rPr lang="en-IN" sz="1400" b="1" dirty="0">
                <a:solidFill>
                  <a:srgbClr val="00B0F0"/>
                </a:solidFill>
              </a:rPr>
              <a:t>2. Landmark Estimation</a:t>
            </a:r>
            <a:endParaRPr lang="en-IN" sz="1400" dirty="0">
              <a:solidFill>
                <a:schemeClr val="bg1"/>
              </a:solidFill>
            </a:endParaRP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Each landmark is assigned precise coordinates on the face.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 The model predicts the geometric structure of the face.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 These landmarks help understand facial orientation and pose.</a:t>
            </a:r>
          </a:p>
          <a:p>
            <a:endParaRPr lang="en-IN" sz="14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03F728-4100-F989-C31B-0D06AAAB4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06" y="2029845"/>
            <a:ext cx="5196754" cy="28345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BC4EB9B-A78B-214F-A160-2C73EEADFA1E}"/>
              </a:ext>
            </a:extLst>
          </p:cNvPr>
          <p:cNvSpPr txBox="1"/>
          <p:nvPr/>
        </p:nvSpPr>
        <p:spPr>
          <a:xfrm>
            <a:off x="6583986" y="1786966"/>
            <a:ext cx="4948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After detecting a face, </a:t>
            </a:r>
            <a:r>
              <a:rPr lang="en-IN" sz="1400" dirty="0" err="1">
                <a:solidFill>
                  <a:schemeClr val="bg1"/>
                </a:solidFill>
              </a:rPr>
              <a:t>dlib</a:t>
            </a:r>
            <a:r>
              <a:rPr lang="en-IN" sz="1400" dirty="0">
                <a:solidFill>
                  <a:schemeClr val="bg1"/>
                </a:solidFill>
              </a:rPr>
              <a:t> identifies </a:t>
            </a:r>
            <a:r>
              <a:rPr lang="en-IN" sz="1400" b="1" dirty="0">
                <a:solidFill>
                  <a:schemeClr val="bg1"/>
                </a:solidFill>
              </a:rPr>
              <a:t>68 facial landmark points</a:t>
            </a:r>
            <a:r>
              <a:rPr lang="en-IN" sz="1400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343F12-0092-4441-077F-927B68803DA0}"/>
              </a:ext>
            </a:extLst>
          </p:cNvPr>
          <p:cNvSpPr txBox="1"/>
          <p:nvPr/>
        </p:nvSpPr>
        <p:spPr>
          <a:xfrm>
            <a:off x="6583986" y="2338385"/>
            <a:ext cx="4743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These points represent key facial regions: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1797F4-1F60-7999-1C5B-DC1092974D05}"/>
              </a:ext>
            </a:extLst>
          </p:cNvPr>
          <p:cNvSpPr txBox="1"/>
          <p:nvPr/>
        </p:nvSpPr>
        <p:spPr>
          <a:xfrm>
            <a:off x="7312997" y="2660585"/>
            <a:ext cx="1211807" cy="1220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Eyes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Eyebrows 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Nose 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Mouth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Jawline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923F53-8CE9-8C4E-4D57-8BCBC28BBAE6}"/>
              </a:ext>
            </a:extLst>
          </p:cNvPr>
          <p:cNvSpPr txBox="1"/>
          <p:nvPr/>
        </p:nvSpPr>
        <p:spPr>
          <a:xfrm>
            <a:off x="7542288" y="5278272"/>
            <a:ext cx="229492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Jawline                    : 17 Points</a:t>
            </a:r>
          </a:p>
          <a:p>
            <a:r>
              <a:rPr lang="en-US" sz="1400" dirty="0" err="1">
                <a:solidFill>
                  <a:schemeClr val="bg1"/>
                </a:solidFill>
              </a:rPr>
              <a:t>PointsEyebrows</a:t>
            </a:r>
            <a:r>
              <a:rPr lang="en-US" sz="1400" dirty="0">
                <a:solidFill>
                  <a:schemeClr val="bg1"/>
                </a:solidFill>
              </a:rPr>
              <a:t>     : 10 Points</a:t>
            </a:r>
          </a:p>
          <a:p>
            <a:r>
              <a:rPr lang="en-US" sz="1400" dirty="0" err="1">
                <a:solidFill>
                  <a:schemeClr val="bg1"/>
                </a:solidFill>
              </a:rPr>
              <a:t>PointsEyes</a:t>
            </a:r>
            <a:r>
              <a:rPr lang="en-US" sz="1400" dirty="0">
                <a:solidFill>
                  <a:schemeClr val="bg1"/>
                </a:solidFill>
              </a:rPr>
              <a:t>              : 12 Points</a:t>
            </a:r>
          </a:p>
          <a:p>
            <a:r>
              <a:rPr lang="en-US" sz="1400" dirty="0" err="1">
                <a:solidFill>
                  <a:schemeClr val="bg1"/>
                </a:solidFill>
              </a:rPr>
              <a:t>PointsNose</a:t>
            </a:r>
            <a:r>
              <a:rPr lang="en-US" sz="1400" dirty="0">
                <a:solidFill>
                  <a:schemeClr val="bg1"/>
                </a:solidFill>
              </a:rPr>
              <a:t>             :  9 Points</a:t>
            </a:r>
          </a:p>
          <a:p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PointsMouth</a:t>
            </a:r>
            <a:r>
              <a:rPr lang="en-US" sz="1400" dirty="0">
                <a:solidFill>
                  <a:schemeClr val="bg1"/>
                </a:solidFill>
              </a:rPr>
              <a:t>         : 20 Points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71472AB-DAC4-7ABA-4809-F13C9A343137}"/>
              </a:ext>
            </a:extLst>
          </p:cNvPr>
          <p:cNvSpPr/>
          <p:nvPr/>
        </p:nvSpPr>
        <p:spPr>
          <a:xfrm>
            <a:off x="7393858" y="5278272"/>
            <a:ext cx="2585884" cy="1220847"/>
          </a:xfrm>
          <a:prstGeom prst="round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362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06168-E1E3-D1A4-5229-B6C2DD98B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9B3713-AA6F-299F-B733-511F9691F5D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A281D-9A8E-FF2E-BE0A-B90A94700869}"/>
              </a:ext>
            </a:extLst>
          </p:cNvPr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COMPUTER VISION &amp; 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3050E1-FC32-849F-2ADF-7044F8BC4DFC}"/>
              </a:ext>
            </a:extLst>
          </p:cNvPr>
          <p:cNvSpPr txBox="1"/>
          <p:nvPr/>
        </p:nvSpPr>
        <p:spPr>
          <a:xfrm>
            <a:off x="731520" y="640080"/>
            <a:ext cx="1069848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2600" b="1" dirty="0">
                <a:solidFill>
                  <a:srgbClr val="F8FAFC"/>
                </a:solidFill>
                <a:latin typeface="Segoe UI"/>
              </a:rPr>
              <a:t>Face Recognition</a:t>
            </a:r>
            <a:endParaRPr sz="2600" b="1" dirty="0">
              <a:solidFill>
                <a:srgbClr val="F8FAFC"/>
              </a:solidFill>
              <a:latin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E287AD-D718-6C87-C068-B004CB6B5CA4}"/>
              </a:ext>
            </a:extLst>
          </p:cNvPr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51918-2715-D3D6-1686-F1FE7337F183}"/>
              </a:ext>
            </a:extLst>
          </p:cNvPr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6EEBD7-BA8D-BBEB-4962-D524725795A8}"/>
              </a:ext>
            </a:extLst>
          </p:cNvPr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US" sz="1000" b="1" dirty="0">
                <a:solidFill>
                  <a:srgbClr val="06B6D4"/>
                </a:solidFill>
                <a:latin typeface="Segoe UI"/>
              </a:rPr>
              <a:t>6 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B7A9F7-26FA-34B3-9506-3575A39F6C8E}"/>
              </a:ext>
            </a:extLst>
          </p:cNvPr>
          <p:cNvSpPr txBox="1"/>
          <p:nvPr/>
        </p:nvSpPr>
        <p:spPr>
          <a:xfrm>
            <a:off x="6631482" y="1535198"/>
            <a:ext cx="5405252" cy="509985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Aligned Face Input </a:t>
            </a:r>
          </a:p>
          <a:p>
            <a:endParaRPr lang="en-IN" sz="1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42913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Uses the aligned face from the previous stage.</a:t>
            </a:r>
          </a:p>
          <a:p>
            <a:pPr marL="442913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 Ensures consistent facial positioning.</a:t>
            </a:r>
          </a:p>
          <a:p>
            <a:pPr>
              <a:lnSpc>
                <a:spcPct val="250000"/>
              </a:lnSpc>
            </a:pP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2.   Deep Neural Network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chemeClr val="bg1"/>
                </a:solidFill>
              </a:rPr>
              <a:t>dlib's</a:t>
            </a:r>
            <a:r>
              <a:rPr lang="en-IN" sz="1400" dirty="0">
                <a:solidFill>
                  <a:schemeClr val="bg1"/>
                </a:solidFill>
              </a:rPr>
              <a:t> modified </a:t>
            </a:r>
            <a:r>
              <a:rPr lang="en-IN" sz="1400" dirty="0" err="1">
                <a:solidFill>
                  <a:schemeClr val="bg1"/>
                </a:solidFill>
              </a:rPr>
              <a:t>ResNet</a:t>
            </a:r>
            <a:r>
              <a:rPr lang="en-IN" sz="1400" dirty="0">
                <a:solidFill>
                  <a:schemeClr val="bg1"/>
                </a:solidFill>
              </a:rPr>
              <a:t> extracts facial features. 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Learns unique characteristics of each face.</a:t>
            </a:r>
          </a:p>
          <a:p>
            <a:pPr>
              <a:lnSpc>
                <a:spcPct val="200000"/>
              </a:lnSpc>
            </a:pP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  Face Encoding 	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Converts the face into a </a:t>
            </a:r>
            <a:r>
              <a:rPr lang="en-IN" sz="1400" b="1" dirty="0">
                <a:solidFill>
                  <a:schemeClr val="bg1"/>
                </a:solidFill>
              </a:rPr>
              <a:t>128-D vector</a:t>
            </a:r>
            <a:r>
              <a:rPr lang="en-IN" sz="1400" dirty="0">
                <a:solidFill>
                  <a:schemeClr val="bg1"/>
                </a:solidFill>
              </a:rPr>
              <a:t>.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 Acts as a mathematical face signature</a:t>
            </a:r>
            <a:r>
              <a:rPr lang="en-IN" sz="1400" dirty="0"/>
              <a:t>.</a:t>
            </a:r>
            <a:endParaRPr lang="en-IN" sz="14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250000"/>
              </a:lnSpc>
              <a:buAutoNum type="arabicPeriod" startAt="5"/>
            </a:pP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Output </a:t>
            </a:r>
          </a:p>
          <a:p>
            <a:pPr marL="263525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	         Aligned Face     </a:t>
            </a:r>
          </a:p>
          <a:p>
            <a:pPr marL="263525"/>
            <a:r>
              <a:rPr lang="en-IN" sz="1400" dirty="0">
                <a:solidFill>
                  <a:schemeClr val="bg1"/>
                </a:solidFill>
              </a:rPr>
              <a:t>     	      ↓</a:t>
            </a:r>
          </a:p>
          <a:p>
            <a:pPr marL="263525"/>
            <a:r>
              <a:rPr lang="en-IN" sz="1400" dirty="0">
                <a:solidFill>
                  <a:schemeClr val="bg1"/>
                </a:solidFill>
              </a:rPr>
              <a:t>	          </a:t>
            </a:r>
            <a:r>
              <a:rPr lang="en-IN" sz="1400" dirty="0" err="1">
                <a:solidFill>
                  <a:schemeClr val="bg1"/>
                </a:solidFill>
              </a:rPr>
              <a:t>ResNet</a:t>
            </a:r>
            <a:r>
              <a:rPr lang="en-IN" sz="1400" dirty="0">
                <a:solidFill>
                  <a:schemeClr val="bg1"/>
                </a:solidFill>
              </a:rPr>
              <a:t> Model </a:t>
            </a:r>
          </a:p>
          <a:p>
            <a:pPr marL="263525"/>
            <a:r>
              <a:rPr lang="en-IN" sz="1400" dirty="0">
                <a:solidFill>
                  <a:schemeClr val="bg1"/>
                </a:solidFill>
              </a:rPr>
              <a:t>  		      ↓</a:t>
            </a:r>
          </a:p>
          <a:p>
            <a:pPr marL="263525"/>
            <a:r>
              <a:rPr lang="en-IN" sz="1400" dirty="0">
                <a:solidFill>
                  <a:schemeClr val="bg1"/>
                </a:solidFill>
              </a:rPr>
              <a:t>	        128D Encoding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45C95B-52B1-026C-8B51-238177D24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80" y="2160805"/>
            <a:ext cx="5226220" cy="28506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187114-CDE0-0C9E-FCCF-0C16579A0D5A}"/>
              </a:ext>
            </a:extLst>
          </p:cNvPr>
          <p:cNvSpPr/>
          <p:nvPr/>
        </p:nvSpPr>
        <p:spPr>
          <a:xfrm>
            <a:off x="7173798" y="5359034"/>
            <a:ext cx="1527142" cy="1316086"/>
          </a:xfrm>
          <a:prstGeom prst="round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793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300AA-4C78-1717-45A6-23ADC12B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BDEE11-9299-099F-D8B9-E81DC0BECFB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FEA14-163E-1840-A508-FBF63BF3E2B6}"/>
              </a:ext>
            </a:extLst>
          </p:cNvPr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COMPUTER VISION &amp; 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3AE49F-33C5-C8D8-F737-31F4A82ECB94}"/>
              </a:ext>
            </a:extLst>
          </p:cNvPr>
          <p:cNvSpPr txBox="1"/>
          <p:nvPr/>
        </p:nvSpPr>
        <p:spPr>
          <a:xfrm>
            <a:off x="731520" y="640080"/>
            <a:ext cx="1069848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2600" b="1" dirty="0">
                <a:solidFill>
                  <a:srgbClr val="F8FAFC"/>
                </a:solidFill>
                <a:latin typeface="Segoe UI"/>
              </a:rPr>
              <a:t>Face Recognition</a:t>
            </a:r>
            <a:endParaRPr sz="2600" b="1" dirty="0">
              <a:solidFill>
                <a:srgbClr val="F8FAFC"/>
              </a:solidFill>
              <a:latin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758C92-C23A-C210-D217-12F1CD1D3A8E}"/>
              </a:ext>
            </a:extLst>
          </p:cNvPr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654F40-7A23-621C-2E32-67DDD87E570E}"/>
              </a:ext>
            </a:extLst>
          </p:cNvPr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16E05-6154-FD54-588F-687C65DDDB83}"/>
              </a:ext>
            </a:extLst>
          </p:cNvPr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US" sz="1000" b="1" dirty="0">
                <a:solidFill>
                  <a:srgbClr val="06B6D4"/>
                </a:solidFill>
                <a:latin typeface="Segoe UI"/>
              </a:rPr>
              <a:t>7 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EA56DF-176D-9232-751B-8D0907843301}"/>
              </a:ext>
            </a:extLst>
          </p:cNvPr>
          <p:cNvSpPr txBox="1"/>
          <p:nvPr/>
        </p:nvSpPr>
        <p:spPr>
          <a:xfrm>
            <a:off x="6511325" y="1601420"/>
            <a:ext cx="5405252" cy="42046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Face Encoding Input</a:t>
            </a:r>
          </a:p>
          <a:p>
            <a:pPr marL="442913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Uses the generated 128D face encoding.</a:t>
            </a:r>
          </a:p>
          <a:p>
            <a:pPr marL="442913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 Acts as a unique facial signature.</a:t>
            </a:r>
          </a:p>
          <a:p>
            <a:pPr>
              <a:lnSpc>
                <a:spcPct val="200000"/>
              </a:lnSpc>
            </a:pP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2.  Database Comparison</a:t>
            </a:r>
            <a:endParaRPr lang="en-IN" sz="1400" dirty="0">
              <a:solidFill>
                <a:schemeClr val="bg1"/>
              </a:solidFill>
            </a:endParaRP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Compares the query encoding with stored encodings. </a:t>
            </a: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Calculates similarity using Euclidean Distance.</a:t>
            </a:r>
          </a:p>
          <a:p>
            <a:pPr marL="228600" indent="-228600">
              <a:lnSpc>
                <a:spcPct val="200000"/>
              </a:lnSpc>
              <a:buAutoNum type="arabicPeriod" startAt="3"/>
            </a:pP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Matching Process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Lower distance indicates higher similarity. </a:t>
            </a:r>
          </a:p>
          <a:p>
            <a:pPr marL="442913" indent="-179388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The closest matching face is selected.</a:t>
            </a:r>
          </a:p>
          <a:p>
            <a:pPr marL="84138" indent="-84138">
              <a:lnSpc>
                <a:spcPct val="200000"/>
              </a:lnSpc>
            </a:pPr>
            <a:r>
              <a:rPr lang="en-IN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4. </a:t>
            </a: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Classification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A bounding box is drawn around the detected face. </a:t>
            </a:r>
          </a:p>
          <a:p>
            <a:pPr marL="442913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The detected region is passed to the next stage for landmark detection.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83E9B9-AD39-D380-AAC9-EAEEF4241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13" y="1954840"/>
            <a:ext cx="5405252" cy="29483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71856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ECOSYSTEM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Multi-Factor Verification 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000" b="1" dirty="0">
                <a:solidFill>
                  <a:srgbClr val="06B6D4"/>
                </a:solidFill>
                <a:latin typeface="Segoe UI"/>
              </a:rPr>
              <a:t>1</a:t>
            </a:r>
            <a:r>
              <a:rPr lang="en-US" sz="1000" b="1" dirty="0">
                <a:solidFill>
                  <a:srgbClr val="06B6D4"/>
                </a:solidFill>
                <a:latin typeface="Segoe UI"/>
              </a:rPr>
              <a:t>8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663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Segoe UI"/>
              </a:rPr>
              <a:t>Verification Funnel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286000"/>
            <a:ext cx="4297680" cy="457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GPS Geofencing Check (&lt;200 meters of college coords)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926080"/>
            <a:ext cx="3749039" cy="457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Active Session Check &amp; Classroom Beacon 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3566160"/>
            <a:ext cx="3200400" cy="457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Visual dynamic OTP validation (10 min expiry)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4206240"/>
            <a:ext cx="2651760" cy="457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Android client head-turn Liveness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4846320"/>
            <a:ext cx="2103120" cy="457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Server Face vector matching (&lt;0.5)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5486400"/>
            <a:ext cx="1554480" cy="365760"/>
          </a:xfrm>
          <a:prstGeom prst="roundRect">
            <a:avLst/>
          </a:prstGeom>
          <a:solidFill>
            <a:srgbClr val="22C55E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Attendance Marked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Why the funnel structure is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03120"/>
            <a:ext cx="5212080" cy="24529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Efficient Cascade: Sensor validations are run hierarchically to filter out non-compliant requests before running heavy computer vision models.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Resource Preservation: Server-side deep face recognition is only executed if the client has already passed GPS, BLE, OTP, and liveness steps.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Cryptographic Integrity: All factors must compile correctly. Failure at any single point terminates the transaction, preventing false logs.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Real-time Updates: When a student passes the funnel, their database state is changed to 'Present' and written to the class CSV.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SYSTEM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Multi-Layered Security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US" sz="1000" b="1" dirty="0">
                <a:solidFill>
                  <a:srgbClr val="06B6D4"/>
                </a:solidFill>
                <a:latin typeface="Segoe UI"/>
              </a:rPr>
              <a:t>19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Segoe UI"/>
              </a:rPr>
              <a:t>DATA SECURITY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3108960" cy="22837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Bcrypt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Password Hash: User passwords are encrypted with dynamic salt cycles.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JWT Tokens: Client requests contain cryptographically signed tokens.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CORS Protocols: Backend restricts API cross-origin routing.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Secure Storage: Face encodings are stored as numerical arrays, preventing image theft.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06B6D4"/>
                </a:solidFill>
                <a:latin typeface="Segoe UI"/>
              </a:rPr>
              <a:t>CLIENT SENSOR INTEGRITY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286000"/>
            <a:ext cx="3108960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468880"/>
            <a:ext cx="3108960" cy="22837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Anti-Mocking: Native Android code flags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location.isFromMockProvider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BLE Proximity: Validates presence using signal power limits (RSSI).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Visual OTP: Uses in-class displays to block remote code submissions.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No Local Cache: Verification photos are deleted from memory after upload.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Segoe UI"/>
              </a:rPr>
              <a:t>BIOMETRIC PROTECTION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28600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3108960" cy="22837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Face Duplicate Filter: Blocks multiple profiles registering with same face.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Euler Yaw Checks: Enforces randomized left/right head movements.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dlib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Distance Threshold: Evaluates vector margins at a strict 0.5 limit.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Aspect Ratio Normalizer: Dynamic crop window limits spoofing borders.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ANTI-FRAUD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Ecosystem Defenses Against Proxy Attendance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US" sz="1000" b="1" dirty="0">
                <a:solidFill>
                  <a:srgbClr val="06B6D4"/>
                </a:solidFill>
                <a:latin typeface="Segoe UI"/>
              </a:rPr>
              <a:t>20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Defeating Attendance Manipulation Hacks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303520" cy="263764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GPS Mocking Bypass: Defeated! Using Android location API, requests containing mock coordinates are flagged and rejected immediately.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QR Code Sharing: Defeated! QR scans are replaced by classroom BLE scans and visual OTPs, preventing remote links.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Photo Spoofing: Defeated! On-device face detection requires active yaw turns (turning left/right) to prove liveness.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Account Credentials Sharing: Defeated! During user login, the database records the unique active JWT token. Logins on new devices overwrite this token, invalidating old sessions.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4808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480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Segoe UI"/>
              </a:rPr>
              <a:t>Ecosystem Defeat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86000"/>
            <a:ext cx="448056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233172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50" b="1">
                <a:solidFill>
                  <a:srgbClr val="06B6D4"/>
                </a:solidFill>
                <a:latin typeface="Segoe UI"/>
              </a:rPr>
              <a:t>Attack 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33172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50" b="1">
                <a:solidFill>
                  <a:srgbClr val="06B6D4"/>
                </a:solidFill>
                <a:latin typeface="Segoe UI"/>
              </a:rPr>
              <a:t>Proposed Mitigation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331720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50" b="1">
                <a:solidFill>
                  <a:srgbClr val="22C55E"/>
                </a:solidFill>
                <a:latin typeface="Segoe UI"/>
              </a:rPr>
              <a:t>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743200"/>
            <a:ext cx="448056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2788920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Segoe UI"/>
              </a:rPr>
              <a:t>GPS spoof / mock locations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788920"/>
            <a:ext cx="1371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Native Android flag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880360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DEFEATED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3383280"/>
            <a:ext cx="448056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3429000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Segoe UI"/>
              </a:rPr>
              <a:t>Sharing QR screen scans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429000"/>
            <a:ext cx="1371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BLE room scan + visual OTP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520440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DEFEATED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4023360"/>
            <a:ext cx="448056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4069080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Segoe UI"/>
              </a:rPr>
              <a:t>Printed peer photos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069080"/>
            <a:ext cx="1371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Interactive liveness turns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4160520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DEFEATED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4663440"/>
            <a:ext cx="448056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0" y="4709160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Segoe UI"/>
              </a:rPr>
              <a:t>Sharing credentials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709160"/>
            <a:ext cx="1371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Single active JWT session lock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4800600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DEFEATED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5303520"/>
            <a:ext cx="448056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0" y="5349240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Segoe UI"/>
              </a:rPr>
              <a:t>Multiple accounts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349240"/>
            <a:ext cx="1371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Registration duplicate face block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5440680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Segoe UI"/>
              </a:rPr>
              <a:t>DEFEATED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BACKEND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FastAPI REST API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US" sz="1000" b="1" dirty="0">
                <a:solidFill>
                  <a:srgbClr val="06B6D4"/>
                </a:solidFill>
                <a:latin typeface="Segoe UI"/>
              </a:rPr>
              <a:t>21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06B6D4"/>
                </a:solidFill>
                <a:latin typeface="Segoe UI"/>
              </a:rPr>
              <a:t>AUTHENTICATION ROUTER (/api/auth)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9456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4846320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/login: Authenticates student; returns JWT; updates active_token.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/register: Saves account details, verifies rolls, saves face vector.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JWT Verification Middleware: Intercepts requests to validate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48463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06B6D4"/>
                </a:solidFill>
                <a:latin typeface="Segoe UI"/>
              </a:rPr>
              <a:t>ATTENDANCE CONTROLLER (/api/attendance)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19456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286000"/>
            <a:ext cx="4846320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/mark: Multi-factor verification gateway (GPS, BLE, OTP, face upload).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/unmark: Allows admins to reset attendance status to Absent.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GET /status: Returns daily presence status (Present/Absent).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GET /history: Returns student's last 7 attendance logs.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06B6D4"/>
                </a:solidFill>
                <a:latin typeface="Segoe UI"/>
              </a:rPr>
              <a:t>SESSION MANAGEMENT (/api/session)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48056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4846320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/start/{class_id}: Generates dynamic session identifiers and OTP codes.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/stop/{class_id}: Deactivates attendance window, disabling code inputs.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GET /active/{class_id}: Client pulls expected beacon and OTP code variables.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4069080"/>
            <a:ext cx="48463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06B6D4"/>
                </a:solidFill>
                <a:latin typeface="Segoe UI"/>
              </a:rPr>
              <a:t>CLASS &amp; STUDENT GROUP (/api/class)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448056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4572000"/>
            <a:ext cx="4846320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/create: Initializes class templates mapping to departments.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POST /add-students: Uploads roll lists; builds student collections.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GET /all: Returns active classes mapped to the calling Admin's ID.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F8FAFC"/>
                </a:solidFill>
                <a:latin typeface="Segoe UI"/>
              </a:rPr>
              <a:t>•  GET /students/{class_id}: Returns detailed classroom lists and attendance stats.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SYSTEM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High-Performance System Optimizations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US" sz="1000" b="1" dirty="0">
                <a:solidFill>
                  <a:srgbClr val="06B6D4"/>
                </a:solidFill>
                <a:latin typeface="Segoe UI"/>
              </a:rPr>
              <a:t>22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VECTORIZED FACE MATCH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286000"/>
            <a:ext cx="475488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423160"/>
            <a:ext cx="475488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Face recognition utilizes NumPy-based Euclidean distance comparisons. Vector matching is run in under 15ms, minimizing CPU bottlenecks.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828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IMAGE DOWNSCALING &amp; PREPROCESSING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4754880" cy="91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475488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Android crops photos to face oval boundaries before uploading. Server downscales images by 0.5x using OpenCV to speed up face localization.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114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14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DATABASE INDEXES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572000"/>
            <a:ext cx="475488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709160"/>
            <a:ext cx="475488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Indexes are created on roll and email collections in MongoDB, ensuring query times remain under 5ms even during concurrent student access.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931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114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ASYNCHRONOUS EXPORT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572000"/>
            <a:ext cx="4754880" cy="91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4709160"/>
            <a:ext cx="475488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FastAPI writes student records to class CSV spreadsheets in the background, preventing writing operations from blocking API responses.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Next-Gen Attendance Advancements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US" sz="1000" b="1" dirty="0">
                <a:solidFill>
                  <a:srgbClr val="06B6D4"/>
                </a:solidFill>
                <a:latin typeface="Segoe UI"/>
              </a:rPr>
              <a:t>23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27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Segoe UI"/>
              </a:rPr>
              <a:t>EDGE FACE RECOGNITION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3108960" cy="16476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Run facial similarity checks locally using TensorFlow Lite on device.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Saves bandwidth: Uploads only verification hashes instead of full photos.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Zero server CV overhead: Scales easily to thousands of concurrent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06B6D4"/>
                </a:solidFill>
                <a:latin typeface="Segoe UI"/>
              </a:rPr>
              <a:t>MULTI-SPECTRAL LIVENESS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286000"/>
            <a:ext cx="3108960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468880"/>
            <a:ext cx="3108960" cy="16476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Incorporate IR/depth sensors on phones supporting advanced biometric API.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Defeats high-res 3D masks and deepfake screens.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Continuous verification: Track attendance status throughout the lecture.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8288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Segoe UI"/>
              </a:rPr>
              <a:t>AI PREDICTIVE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286000"/>
            <a:ext cx="31089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3108960" cy="16476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Analyze student attendance trends using machine learning models.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Predicts semester dropouts and alerts advisors automatically.</a:t>
            </a:r>
            <a:endParaRPr lang="en-US"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1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•  Optimizes classroom schedules by identifying peaks in student absence.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ENGINEERING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Technical Challenges &amp; Engineering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US" sz="1000" b="1" dirty="0">
                <a:solidFill>
                  <a:srgbClr val="06B6D4"/>
                </a:solidFill>
                <a:latin typeface="Segoe UI"/>
              </a:rPr>
              <a:t>24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2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Android BLE Scan Latency &amp; Mismatch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8600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Challenge: Android BLE scanner takes time to locate and return advertising beacons, causing timeouts.
Resolution: Switched scan settings to Low Latency Mode and created a 4-second scan accumulation map to filter room beacons.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 dirty="0">
                <a:solidFill>
                  <a:srgbClr val="06B6D4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828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Camera Aspect-Ratio Image Warping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28600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423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Challenge: Raw output from front cameras is stretched or distorted when loading face models, affecting accuracy.
Resolution: Programmed custom cropping logic mapping coordinates directly to CameraX viewfinders.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14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GPS Drift in Concrete Buildings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57200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 dirty="0">
                <a:solidFill>
                  <a:srgbClr val="94A3B8"/>
                </a:solidFill>
                <a:latin typeface="Segoe UI"/>
              </a:rPr>
              <a:t>Challenge: Thick concrete classroom walls block GPS signals, causing drift and false failures.
Resolution: Set GPS checks to a wider 200m range and combined location coordinates with local room BLE scans.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4114800"/>
            <a:ext cx="914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114800"/>
            <a:ext cx="4114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Segoe UI"/>
              </a:rPr>
              <a:t>Concurrency &amp; Write-blocking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572000"/>
            <a:ext cx="484632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709160"/>
            <a:ext cx="4846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Challenge: Heavy database read/write requests slow down responses during large classroom attendance sessions.
Resolution: Setup indexed fields on student rolls and set FastAPI to write class CSVs asynchronously.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SYSTEM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Measurable Benefits &amp; Operational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US" sz="1000" b="1" dirty="0">
                <a:solidFill>
                  <a:srgbClr val="06B6D4"/>
                </a:solidFill>
                <a:latin typeface="Segoe UI"/>
              </a:rPr>
              <a:t>25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2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System Advantages &amp; Value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303520" cy="31352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Security Hardening: Eliminates buddy punching, QR sharing, and GPS spoofing completely.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Administrative Time Savings: Reduces roll call times from 10 minutes to under 5 seconds per student.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Paperless Tracking: Saves administrative hours by automating classroom statistics and monthly reports.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Self-contained: Fully open-source dependencies run without expensive third-party APIs.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Real-time visibility: Dashboard updates instantly when students pass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4846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2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Segoe UI"/>
              </a:rPr>
              <a:t>PROXY ELIMINATION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2926080" cy="3600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US" sz="1050" dirty="0">
                <a:solidFill>
                  <a:srgbClr val="94A3B8"/>
                </a:solidFill>
                <a:latin typeface="Segoe UI"/>
              </a:rPr>
              <a:t>“Significantly reduces common proxy attendance attempts.”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108960"/>
            <a:ext cx="4846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3291840"/>
            <a:ext cx="13716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200" b="1">
                <a:solidFill>
                  <a:srgbClr val="06B6D4"/>
                </a:solidFill>
                <a:latin typeface="Segoe UI"/>
              </a:rPr>
              <a:t>&lt; 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3756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Segoe UI"/>
              </a:rPr>
              <a:t>VERIFICATION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657600"/>
            <a:ext cx="2926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Segoe UI"/>
              </a:rPr>
              <a:t>Fast and smooth student login verification.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572000"/>
            <a:ext cx="4846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4754880"/>
            <a:ext cx="13716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200" b="1">
                <a:solidFill>
                  <a:srgbClr val="22C55E"/>
                </a:solidFill>
                <a:latin typeface="Segoe U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80060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 dirty="0">
                <a:solidFill>
                  <a:srgbClr val="F8FAFC"/>
                </a:solidFill>
                <a:latin typeface="Segoe UI"/>
              </a:rPr>
              <a:t>MANUAL 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120640"/>
            <a:ext cx="2926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Segoe UI"/>
              </a:rPr>
              <a:t>Automatic real-time Excel/CSV exports.</a:t>
            </a:r>
          </a:p>
        </p:txBody>
      </p:sp>
      <p:pic>
        <p:nvPicPr>
          <p:cNvPr id="23" name="Graphic 22" descr="Drama with solid fill">
            <a:extLst>
              <a:ext uri="{FF2B5EF4-FFF2-40B4-BE49-F238E27FC236}">
                <a16:creationId xmlns:a16="http://schemas.microsoft.com/office/drawing/2014/main" id="{D26E6C83-82D5-2F58-1C0C-2B85760B94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0" y="1866979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UX DESIGN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Client Mobile Interface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US" sz="1000" b="1" dirty="0">
                <a:solidFill>
                  <a:srgbClr val="06B6D4"/>
                </a:solidFill>
                <a:latin typeface="Segoe UI"/>
              </a:rPr>
              <a:t>26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2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Segoe UI"/>
              </a:rPr>
              <a:t>Key User Interface Screens &amp; Interactive Elements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SPLASH &amp; ROLE SELECT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6324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Interactive role select with custom canvas mesh backgrounds.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01168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214884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5146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LOGIN &amp; REGISTER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306324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1880" y="315468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Includes email validation, passwords, and face enrollment.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01168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5146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STUDENT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06324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15468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Shows weekly graphs, active sessions, and attendance statuses.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201168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06840" y="214884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51460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CODE INPUT DIALOG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06324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06840" y="315468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A Material Design popup checking dynamic visual OTP codes.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11480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25196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1772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BLE SCANNER 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516636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25780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Real-time background scanner filtering room beacons.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411480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11880" y="425196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61772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LIVENESS OVERLAY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11880" y="516636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11880" y="525780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Draws face framing ovals and arrow directions for head turns.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11480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425196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61772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SUCCESS SCREEN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16636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60" y="525780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Lottie animation playing on verified attendance marks.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23960" y="4114800"/>
            <a:ext cx="25603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06840" y="425196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4617720"/>
            <a:ext cx="21945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Segoe UI"/>
              </a:rPr>
              <a:t>REPORTS &amp; EXPORT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6840" y="5166360"/>
            <a:ext cx="21945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06840" y="5257800"/>
            <a:ext cx="21945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Segoe UI"/>
              </a:rPr>
              <a:t>Class list overview displaying real-time CSV statistics.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Securing Modern Classrooms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AUTOMATED ATTENDANCE MANAGEMENT SYSTEM  |  TECHNICAL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914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lang="en-US" sz="1000" b="1" dirty="0">
                <a:solidFill>
                  <a:srgbClr val="06B6D4"/>
                </a:solidFill>
                <a:latin typeface="Segoe UI"/>
              </a:rPr>
              <a:t>27</a:t>
            </a:r>
            <a:r>
              <a:rPr sz="1000" b="1" dirty="0">
                <a:solidFill>
                  <a:srgbClr val="06B6D4"/>
                </a:solidFill>
                <a:latin typeface="Segoe UI"/>
              </a:rPr>
              <a:t> / 2</a:t>
            </a:r>
            <a:r>
              <a:rPr lang="en-IN" sz="1000" b="1" dirty="0">
                <a:solidFill>
                  <a:srgbClr val="06B6D4"/>
                </a:solidFill>
                <a:latin typeface="Segoe UI"/>
              </a:rPr>
              <a:t>7</a:t>
            </a:r>
            <a:endParaRPr sz="1000" b="1" dirty="0">
              <a:solidFill>
                <a:srgbClr val="06B6D4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Project Conclusion &amp; Accomplishments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303520" cy="31352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Successfully designed, implemented, and verified a secure, multi-factor automated attendance management system.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Integrated mobile sensors, local ML analytics, and server-side biometrics to create a robust security shield.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Eliminated attendance vulnerabilities (GPS mocking, QR sharing, buddy punching, static photos).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Greatly reduced administrative load for teachers by automating statistics and spreadsheet logs.</a:t>
            </a:r>
            <a:endParaRPr lang="en-US"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F8FAFC"/>
                </a:solidFill>
                <a:latin typeface="Segoe UI"/>
              </a:rPr>
              <a:t>•  Ecosystem ready for deployment across academic and enterprise training environments.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2011680"/>
            <a:ext cx="44805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  <a:latin typeface="Segoe UI"/>
              </a:rPr>
              <a:t>KEY DELIVERABLE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60320"/>
            <a:ext cx="384048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00" dirty="0">
                <a:solidFill>
                  <a:srgbClr val="F8FAFC"/>
                </a:solidFill>
                <a:latin typeface="Segoe UI"/>
              </a:rPr>
              <a:t>•  Secure: Low Euclidean matching limits.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F8FAFC"/>
                </a:solidFill>
                <a:latin typeface="Segoe UI"/>
              </a:rPr>
              <a:t>•  Fast: Complete verification takes under 5s.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F8FAFC"/>
                </a:solidFill>
                <a:latin typeface="Segoe UI"/>
              </a:rPr>
              <a:t>•  Automated: Logs compiled in real-time CSV formats.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F8FAFC"/>
                </a:solidFill>
                <a:latin typeface="Segoe UI"/>
              </a:rPr>
              <a:t>•  No Spoofing: Robust head-turning liveness detection.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F8FAFC"/>
                </a:solidFill>
                <a:latin typeface="Segoe UI"/>
              </a:rPr>
              <a:t>•  On-device Processing: Client-side facial analysis.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346704" y="685800"/>
            <a:ext cx="5486400" cy="5486400"/>
          </a:xfrm>
          <a:prstGeom prst="ellipse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  <a:latin typeface="Segoe UI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800" b="0">
                <a:solidFill>
                  <a:srgbClr val="06B6D4"/>
                </a:solidFill>
                <a:latin typeface="Segoe UI"/>
              </a:rPr>
              <a:t>Questions &amp;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1104" y="3383280"/>
            <a:ext cx="3657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89504" y="3840480"/>
            <a:ext cx="64008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72384" y="4023360"/>
            <a:ext cx="60350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1">
                <a:solidFill>
                  <a:srgbClr val="06B6D4"/>
                </a:solidFill>
                <a:latin typeface="Segoe UI"/>
              </a:rPr>
              <a:t>AUTOMATED ATTENDANCE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3824" y="4434840"/>
            <a:ext cx="5852160" cy="4242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50" dirty="0">
                <a:solidFill>
                  <a:srgbClr val="F8FAFC"/>
                </a:solidFill>
                <a:latin typeface="Segoe UI"/>
              </a:rPr>
              <a:t>•  Technical Architecture: Python </a:t>
            </a:r>
            <a:r>
              <a:rPr sz="1050" dirty="0" err="1">
                <a:solidFill>
                  <a:srgbClr val="F8FAFC"/>
                </a:solidFill>
                <a:latin typeface="Segoe UI"/>
              </a:rPr>
              <a:t>FastAPI</a:t>
            </a:r>
            <a:r>
              <a:rPr sz="1050" dirty="0">
                <a:solidFill>
                  <a:srgbClr val="F8FAFC"/>
                </a:solidFill>
                <a:latin typeface="Segoe UI"/>
              </a:rPr>
              <a:t> Gateway | Kotlin Android App</a:t>
            </a:r>
          </a:p>
          <a:p>
            <a:pPr>
              <a:spcAft>
                <a:spcPts val="500"/>
              </a:spcAft>
            </a:pPr>
            <a:r>
              <a:rPr sz="1050" dirty="0">
                <a:solidFill>
                  <a:srgbClr val="F8FAFC"/>
                </a:solidFill>
                <a:latin typeface="Segoe UI"/>
              </a:rPr>
              <a:t>•  Biometrics Engine: Google ML Kit Face Analysis &amp; </a:t>
            </a:r>
            <a:r>
              <a:rPr sz="1050" dirty="0" err="1">
                <a:solidFill>
                  <a:srgbClr val="F8FAFC"/>
                </a:solidFill>
                <a:latin typeface="Segoe UI"/>
              </a:rPr>
              <a:t>dlib</a:t>
            </a:r>
            <a:r>
              <a:rPr sz="1050" dirty="0">
                <a:solidFill>
                  <a:srgbClr val="F8FAFC"/>
                </a:solidFill>
                <a:latin typeface="Segoe UI"/>
              </a:rPr>
              <a:t> 128D Matching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4344</Words>
  <Application>Microsoft Office PowerPoint</Application>
  <PresentationFormat>Widescreen</PresentationFormat>
  <Paragraphs>645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saikat mukherjee</dc:creator>
  <cp:keywords/>
  <dc:description>generated using python-pptx</dc:description>
  <cp:lastModifiedBy>saikat mukherjee</cp:lastModifiedBy>
  <cp:revision>7</cp:revision>
  <dcterms:created xsi:type="dcterms:W3CDTF">2013-01-27T09:14:16Z</dcterms:created>
  <dcterms:modified xsi:type="dcterms:W3CDTF">2026-06-05T01:29:13Z</dcterms:modified>
  <cp:category/>
</cp:coreProperties>
</file>